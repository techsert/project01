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63" r:id="rId5"/>
    <p:sldId id="265" r:id="rId6"/>
    <p:sldId id="264" r:id="rId7"/>
    <p:sldId id="260" r:id="rId8"/>
    <p:sldId id="261" r:id="rId9"/>
    <p:sldId id="262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 showGuides="1">
      <p:cViewPr varScale="1">
        <p:scale>
          <a:sx n="156" d="100"/>
          <a:sy n="156" d="100"/>
        </p:scale>
        <p:origin x="1650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73A8-13F4-3A14-C433-B3B074FE2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A3FC28-0344-A534-5D87-25B6456CE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77E86-BD9F-56DA-F6CA-5430D21F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FFCC-D1BC-468E-B2F5-1DAB61913C58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6ED84-B571-924F-5903-877AFD30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A45D3-8906-CA24-4EB5-19BFC22A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6725-3B28-457E-B2C5-9F4CA516E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156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57718-0D77-DB35-CA1E-FDBC88AED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4CEFA-91C5-B68C-7D0E-BFE3C6D67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C66CC-2228-554A-B452-A0376D2D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FFCC-D1BC-468E-B2F5-1DAB61913C58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E928A-F1F9-3AD6-3CB2-71F283BA9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79369-8FD4-E3FB-E8D5-D07DAC0BB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6725-3B28-457E-B2C5-9F4CA516E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57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20879-6C57-AD04-12E3-9CBAA279F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8E47F-3A8B-02C6-6A1C-F7BE6E283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7AA81-3298-0C98-8403-7454F5B19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FFCC-D1BC-468E-B2F5-1DAB61913C58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0C4DA-EB89-F18C-7A29-7F6DB2F8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6B805-C1C7-7AD9-13D7-E7242F2B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6725-3B28-457E-B2C5-9F4CA516E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570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AC39A-3A38-9A53-D8E5-E4211B8B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3987C-26FB-3AB0-6514-485F3FA2C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C622C-E8A2-59BB-C42C-0F1A7771C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B8FDC-32CA-B062-ED04-57C9A1A6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FFCC-D1BC-468E-B2F5-1DAB61913C58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79CED-AE40-1AA8-F77C-AA9CDE987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EE124-289B-9F8A-A41F-53CACC694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6725-3B28-457E-B2C5-9F4CA516E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33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D7AC-A6E3-09A4-6928-23726CCFB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68B01-2B0A-1012-AF07-06643A940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CA4EF-D509-4B2C-EF1E-B57AAA644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E72633-672D-574B-874C-C612DD72B8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44192-C3EE-E16E-BED3-6178453A1A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C07402-AD76-BB0C-919F-07CBB8E2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FFCC-D1BC-468E-B2F5-1DAB61913C58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F7FA1B-2456-D9DC-E30D-913F79BE2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2526CF-4DE9-1207-DA2E-A72DD788D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6725-3B28-457E-B2C5-9F4CA516E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506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70903-1B3B-A9A0-35B8-BBD778789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C3C70-3E60-32AE-C225-7D41E9CA0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FFCC-D1BC-468E-B2F5-1DAB61913C58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9056B-0684-9E92-0D1D-01947E8F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09DDC-9A46-7B27-385B-96E4C4078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6725-3B28-457E-B2C5-9F4CA516E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113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6B747E-9288-A3A7-5519-F30FE0EFF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FFCC-D1BC-468E-B2F5-1DAB61913C58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E7CB28-0511-D824-FEB9-BC7C7AE99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AAC9C-57DD-CF0B-90BC-EA734AAB4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6725-3B28-457E-B2C5-9F4CA516E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569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4B2F7-3C28-2A6F-45DE-EF388A9C5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BF238-14F6-FD63-CD4D-1BC5CB400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E6F2A-190A-5D24-869E-EB1BEB856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1CEA2-9BC6-E828-AE8D-B8C4A100D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FFCC-D1BC-468E-B2F5-1DAB61913C58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C615D-469B-34AA-E9FF-B535D2327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209A5-DA64-9BCB-2AA6-53E9F8A88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6725-3B28-457E-B2C5-9F4CA516E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49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A61E-E69A-EE72-F68A-131F006CD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4AA6D-0483-5624-C2AD-AA2A34C5E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56B91-7704-A50D-22BE-D59734F14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4709A-CA58-303C-9438-DF5BD6D61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FFCC-D1BC-468E-B2F5-1DAB61913C58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24B25-E734-CD55-1D19-1A14C121D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42F89-4AF3-9229-BBAE-4FB049EA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6725-3B28-457E-B2C5-9F4CA516E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4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688DF-D9D3-71BA-A7FF-8E3E4B63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0780A-3EC5-6508-4FA3-6950EF89C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14F24-639C-C0E6-8F61-DB3A265EC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FFCC-D1BC-468E-B2F5-1DAB61913C58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17C37-C6AD-B251-05C1-B96B2FF3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F20E5-6F5A-0509-9E4D-CC8BC813D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6725-3B28-457E-B2C5-9F4CA516E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27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FEF3A8-2714-1FD8-CE0F-5DFA916EAD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A9AD9-7D6A-A503-176D-5F8CE6E53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D58E1-744A-C19E-F263-031037BF2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FFCC-D1BC-468E-B2F5-1DAB61913C58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FD99D-C27C-8D95-739B-D36CDC772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EE9EF-8A6C-9A0F-5E2F-A97268236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6725-3B28-457E-B2C5-9F4CA516E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99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851739-AECA-5743-A7AF-0CEC862F8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2B5FC-11C7-72DA-02EE-987A1D08E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B4962-17CB-D3D9-192E-C49622F88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5FFCC-D1BC-468E-B2F5-1DAB61913C58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F7802-309B-7871-508F-743B8A15B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3B2B4-FCFC-7F62-860B-8BBA54573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66725-3B28-457E-B2C5-9F4CA516E2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924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audio" Target="../media/audio1.wav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audio" Target="../media/audio3.wav"/><Relationship Id="rId7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audio" Target="../media/audio2.wav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audio" Target="../media/audio3.wav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audio" Target="../media/audio3.wav"/><Relationship Id="rId7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B86F4-0766-9032-C8FA-4B586CF5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84DDE7-43FC-02F9-3660-327D63373F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rgbClr val="FFEDCC"/>
          </a:solidFill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FED912-75A3-8939-AAC4-B892D17E89F5}"/>
              </a:ext>
            </a:extLst>
          </p:cNvPr>
          <p:cNvSpPr txBox="1">
            <a:spLocks/>
          </p:cNvSpPr>
          <p:nvPr/>
        </p:nvSpPr>
        <p:spPr>
          <a:xfrm>
            <a:off x="1524000" y="870155"/>
            <a:ext cx="9144000" cy="340687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EG" sz="13800" dirty="0"/>
              <a:t>ا</a:t>
            </a:r>
            <a:r>
              <a:rPr lang="ar-SA" sz="13800" dirty="0"/>
              <a:t>للُّغَةُ العَرَبِيَّةُ</a:t>
            </a:r>
            <a:endParaRPr lang="en-GB" sz="13800" dirty="0"/>
          </a:p>
        </p:txBody>
      </p:sp>
    </p:spTree>
    <p:extLst>
      <p:ext uri="{BB962C8B-B14F-4D97-AF65-F5344CB8AC3E}">
        <p14:creationId xmlns:p14="http://schemas.microsoft.com/office/powerpoint/2010/main" val="3637841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84B7609-1612-AF13-B3D8-05148BCE32C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8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45" t="10131" r="6609" b="9247"/>
          <a:stretch/>
        </p:blipFill>
        <p:spPr>
          <a:xfrm>
            <a:off x="-81114" y="-1"/>
            <a:ext cx="12312000" cy="6912000"/>
          </a:xfrm>
          <a:prstGeom prst="rect">
            <a:avLst/>
          </a:prstGeom>
        </p:spPr>
      </p:pic>
      <p:pic>
        <p:nvPicPr>
          <p:cNvPr id="19" name="Picture 18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2EE5C668-9945-89F1-0A9C-BDDE7CC549C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07" y="856355"/>
            <a:ext cx="1165123" cy="11651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891048-7ECA-B88B-C755-DC3DEBCBD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5225"/>
            <a:ext cx="9144000" cy="2265213"/>
          </a:xfrm>
        </p:spPr>
        <p:txBody>
          <a:bodyPr anchor="ctr" anchorCtr="0">
            <a:normAutofit fontScale="90000"/>
          </a:bodyPr>
          <a:lstStyle/>
          <a:p>
            <a:r>
              <a:rPr lang="ar-SA" sz="8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بِسْمِ </a:t>
            </a:r>
            <a:r>
              <a:rPr lang="ar-SA" sz="88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ٱللَّهِ</a:t>
            </a:r>
            <a:r>
              <a:rPr lang="ar-SA" sz="8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SA" sz="88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ٱلرَّحْمَٰنِ</a:t>
            </a:r>
            <a:r>
              <a:rPr lang="ar-SA" sz="8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SA" sz="88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ٱلرَّحِيمِ</a:t>
            </a:r>
            <a:endParaRPr lang="en-GB" sz="8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6CBED-FFCC-5F4E-0188-999E58F1F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20"/>
            <a:ext cx="9144000" cy="1655762"/>
          </a:xfrm>
        </p:spPr>
        <p:txBody>
          <a:bodyPr>
            <a:normAutofit/>
          </a:bodyPr>
          <a:lstStyle/>
          <a:p>
            <a:r>
              <a:rPr lang="en-AU" sz="5400" dirty="0"/>
              <a:t>In the name of Allah, the Most Gracious, the Most Merciful</a:t>
            </a:r>
            <a:endParaRPr lang="en-GB" sz="54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16376B-AB01-90A1-5B3A-281A5A74F26F}"/>
              </a:ext>
            </a:extLst>
          </p:cNvPr>
          <p:cNvSpPr txBox="1">
            <a:spLocks/>
          </p:cNvSpPr>
          <p:nvPr/>
        </p:nvSpPr>
        <p:spPr>
          <a:xfrm>
            <a:off x="1524000" y="450756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5400" dirty="0"/>
              <a:t>👉       We use it before we start doing anything, like, reading, eating, drinking, working and so on . </a:t>
            </a:r>
          </a:p>
          <a:p>
            <a:r>
              <a:rPr lang="en-AU" sz="5400" dirty="0"/>
              <a:t>It’s like saying, “Please Allah help me to do this the right way.</a:t>
            </a:r>
            <a:endParaRPr lang="en-GB" sz="5400" dirty="0"/>
          </a:p>
        </p:txBody>
      </p:sp>
      <p:pic>
        <p:nvPicPr>
          <p:cNvPr id="7" name="Picture 6" descr="A drawing of a pencil&#10;&#10;AI-generated content may be incorrect.">
            <a:extLst>
              <a:ext uri="{FF2B5EF4-FFF2-40B4-BE49-F238E27FC236}">
                <a16:creationId xmlns:a16="http://schemas.microsoft.com/office/drawing/2014/main" id="{7113E900-F5E4-C558-75C3-5A28D79523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64" y="6336074"/>
            <a:ext cx="444192" cy="521926"/>
          </a:xfrm>
          <a:prstGeom prst="rect">
            <a:avLst/>
          </a:prstGeom>
        </p:spPr>
      </p:pic>
      <p:pic>
        <p:nvPicPr>
          <p:cNvPr id="9" name="Picture 8" descr="An orange book with a rectangular window&#10;&#10;AI-generated content may be incorrect.">
            <a:extLst>
              <a:ext uri="{FF2B5EF4-FFF2-40B4-BE49-F238E27FC236}">
                <a16:creationId xmlns:a16="http://schemas.microsoft.com/office/drawing/2014/main" id="{139D42C4-0152-64D7-242F-C355B01228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0151" y="6141215"/>
            <a:ext cx="661849" cy="716785"/>
          </a:xfrm>
          <a:prstGeom prst="rect">
            <a:avLst/>
          </a:prstGeom>
        </p:spPr>
      </p:pic>
      <p:pic>
        <p:nvPicPr>
          <p:cNvPr id="11" name="Picture 10" descr="A yellow object with a black background&#10;&#10;AI-generated content may be incorrect.">
            <a:extLst>
              <a:ext uri="{FF2B5EF4-FFF2-40B4-BE49-F238E27FC236}">
                <a16:creationId xmlns:a16="http://schemas.microsoft.com/office/drawing/2014/main" id="{775A6677-D925-DCE7-0894-AD3567B44A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0" y="18871"/>
            <a:ext cx="251667" cy="656198"/>
          </a:xfrm>
          <a:prstGeom prst="rect">
            <a:avLst/>
          </a:prstGeom>
        </p:spPr>
      </p:pic>
      <p:pic>
        <p:nvPicPr>
          <p:cNvPr id="15" name="Picture 14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00B297BB-94C1-61E6-7739-BB07388B69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30151" y="85225"/>
            <a:ext cx="523490" cy="523490"/>
          </a:xfrm>
          <a:prstGeom prst="rect">
            <a:avLst/>
          </a:prstGeom>
        </p:spPr>
      </p:pic>
      <p:pic>
        <p:nvPicPr>
          <p:cNvPr id="16" name="Picture 15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4B080C15-6EA7-EA30-8C1E-08D2F2AD93FC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8510" y="2530567"/>
            <a:ext cx="523490" cy="523490"/>
          </a:xfrm>
          <a:prstGeom prst="rect">
            <a:avLst/>
          </a:prstGeom>
        </p:spPr>
      </p:pic>
      <p:pic>
        <p:nvPicPr>
          <p:cNvPr id="17" name="Picture 16" descr="A drawing of a pencil&#10;&#10;AI-generated content may be incorrect.">
            <a:extLst>
              <a:ext uri="{FF2B5EF4-FFF2-40B4-BE49-F238E27FC236}">
                <a16:creationId xmlns:a16="http://schemas.microsoft.com/office/drawing/2014/main" id="{5EFBA21F-3C3B-256D-594A-9E55157DFC1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350" y="3924446"/>
            <a:ext cx="444192" cy="521926"/>
          </a:xfrm>
          <a:prstGeom prst="rect">
            <a:avLst/>
          </a:prstGeom>
        </p:spPr>
      </p:pic>
      <p:pic>
        <p:nvPicPr>
          <p:cNvPr id="20" name="Picture 19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A0139793-2D93-2DBA-7772-1104FEA0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344" y="-163741"/>
            <a:ext cx="1165123" cy="116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5018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  <p:sndAc>
          <p:stSnd>
            <p:snd r:embed="rId2" name="laser.wav"/>
          </p:stSnd>
        </p:sndAc>
      </p:transition>
    </mc:Choice>
    <mc:Fallback xmlns="">
      <p:transition spd="slow">
        <p:fade/>
        <p:sndAc>
          <p:stSnd>
            <p:snd r:embed="rId10" name="las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84B7609-1612-AF13-B3D8-05148BCE32C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8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45" t="10131" r="6609" b="9247"/>
          <a:stretch/>
        </p:blipFill>
        <p:spPr>
          <a:xfrm>
            <a:off x="-88152" y="0"/>
            <a:ext cx="12312000" cy="6912000"/>
          </a:xfrm>
          <a:prstGeom prst="rect">
            <a:avLst/>
          </a:prstGeom>
        </p:spPr>
      </p:pic>
      <p:pic>
        <p:nvPicPr>
          <p:cNvPr id="19" name="Picture 18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2EE5C668-9945-89F1-0A9C-BDDE7CC549C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07" y="856355"/>
            <a:ext cx="1165123" cy="11651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891048-7ECA-B88B-C755-DC3DEBCBD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2698" y="85225"/>
            <a:ext cx="8931643" cy="1553167"/>
          </a:xfrm>
        </p:spPr>
        <p:txBody>
          <a:bodyPr anchor="ctr" anchorCtr="0">
            <a:normAutofit/>
          </a:bodyPr>
          <a:lstStyle/>
          <a:p>
            <a:r>
              <a:rPr lang="ar-SA" sz="8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السَّلَامُ عَلَيْكُمْ</a:t>
            </a:r>
            <a:endParaRPr lang="en-GB" sz="8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6CBED-FFCC-5F4E-0188-999E58F1F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565" y="1761126"/>
            <a:ext cx="4690752" cy="1107917"/>
          </a:xfrm>
        </p:spPr>
        <p:txBody>
          <a:bodyPr>
            <a:norm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it mean? </a:t>
            </a:r>
            <a:endParaRPr lang="en-AU" sz="32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do we use it?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16376B-AB01-90A1-5B3A-281A5A74F26F}"/>
              </a:ext>
            </a:extLst>
          </p:cNvPr>
          <p:cNvSpPr txBox="1">
            <a:spLocks/>
          </p:cNvSpPr>
          <p:nvPr/>
        </p:nvSpPr>
        <p:spPr>
          <a:xfrm>
            <a:off x="1524000" y="450756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5400" dirty="0"/>
          </a:p>
        </p:txBody>
      </p:sp>
      <p:pic>
        <p:nvPicPr>
          <p:cNvPr id="7" name="Picture 6" descr="A drawing of a pencil&#10;&#10;AI-generated content may be incorrect.">
            <a:extLst>
              <a:ext uri="{FF2B5EF4-FFF2-40B4-BE49-F238E27FC236}">
                <a16:creationId xmlns:a16="http://schemas.microsoft.com/office/drawing/2014/main" id="{7113E900-F5E4-C558-75C3-5A28D79523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64" y="6336074"/>
            <a:ext cx="444192" cy="521926"/>
          </a:xfrm>
          <a:prstGeom prst="rect">
            <a:avLst/>
          </a:prstGeom>
        </p:spPr>
      </p:pic>
      <p:pic>
        <p:nvPicPr>
          <p:cNvPr id="9" name="Picture 8" descr="An orange book with a rectangular window&#10;&#10;AI-generated content may be incorrect.">
            <a:extLst>
              <a:ext uri="{FF2B5EF4-FFF2-40B4-BE49-F238E27FC236}">
                <a16:creationId xmlns:a16="http://schemas.microsoft.com/office/drawing/2014/main" id="{139D42C4-0152-64D7-242F-C355B01228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0151" y="6141215"/>
            <a:ext cx="661849" cy="716785"/>
          </a:xfrm>
          <a:prstGeom prst="rect">
            <a:avLst/>
          </a:prstGeom>
        </p:spPr>
      </p:pic>
      <p:pic>
        <p:nvPicPr>
          <p:cNvPr id="11" name="Picture 10" descr="A yellow object with a black background&#10;&#10;AI-generated content may be incorrect.">
            <a:extLst>
              <a:ext uri="{FF2B5EF4-FFF2-40B4-BE49-F238E27FC236}">
                <a16:creationId xmlns:a16="http://schemas.microsoft.com/office/drawing/2014/main" id="{775A6677-D925-DCE7-0894-AD3567B44A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0" y="18871"/>
            <a:ext cx="251667" cy="656198"/>
          </a:xfrm>
          <a:prstGeom prst="rect">
            <a:avLst/>
          </a:prstGeom>
        </p:spPr>
      </p:pic>
      <p:pic>
        <p:nvPicPr>
          <p:cNvPr id="15" name="Picture 14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00B297BB-94C1-61E6-7739-BB07388B69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30151" y="85225"/>
            <a:ext cx="523490" cy="523490"/>
          </a:xfrm>
          <a:prstGeom prst="rect">
            <a:avLst/>
          </a:prstGeom>
        </p:spPr>
      </p:pic>
      <p:pic>
        <p:nvPicPr>
          <p:cNvPr id="16" name="Picture 15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4B080C15-6EA7-EA30-8C1E-08D2F2AD93FC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8510" y="2530567"/>
            <a:ext cx="523490" cy="523490"/>
          </a:xfrm>
          <a:prstGeom prst="rect">
            <a:avLst/>
          </a:prstGeom>
        </p:spPr>
      </p:pic>
      <p:pic>
        <p:nvPicPr>
          <p:cNvPr id="17" name="Picture 16" descr="A drawing of a pencil&#10;&#10;AI-generated content may be incorrect.">
            <a:extLst>
              <a:ext uri="{FF2B5EF4-FFF2-40B4-BE49-F238E27FC236}">
                <a16:creationId xmlns:a16="http://schemas.microsoft.com/office/drawing/2014/main" id="{5EFBA21F-3C3B-256D-594A-9E55157DFC1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350" y="3924446"/>
            <a:ext cx="444192" cy="521926"/>
          </a:xfrm>
          <a:prstGeom prst="rect">
            <a:avLst/>
          </a:prstGeom>
        </p:spPr>
      </p:pic>
      <p:pic>
        <p:nvPicPr>
          <p:cNvPr id="20" name="Picture 19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A0139793-2D93-2DBA-7772-1104FEA0FA4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344" y="-163741"/>
            <a:ext cx="1165123" cy="116512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9EB5E6B-BBF2-A9CB-77E8-AB7D98D6B7D4}"/>
              </a:ext>
            </a:extLst>
          </p:cNvPr>
          <p:cNvSpPr txBox="1">
            <a:spLocks/>
          </p:cNvSpPr>
          <p:nvPr/>
        </p:nvSpPr>
        <p:spPr>
          <a:xfrm>
            <a:off x="435628" y="3758888"/>
            <a:ext cx="11363082" cy="2936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sz="5400" dirty="0"/>
          </a:p>
          <a:p>
            <a:br>
              <a:rPr lang="en-AU" sz="5400" dirty="0"/>
            </a:br>
            <a:endParaRPr lang="ar-EG" sz="5400" dirty="0"/>
          </a:p>
          <a:p>
            <a:endParaRPr lang="en-GB" sz="5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CE0A63-B086-48BC-1F3A-CE73D3E37D2B}"/>
              </a:ext>
            </a:extLst>
          </p:cNvPr>
          <p:cNvSpPr txBox="1">
            <a:spLocks/>
          </p:cNvSpPr>
          <p:nvPr/>
        </p:nvSpPr>
        <p:spPr>
          <a:xfrm>
            <a:off x="1702698" y="3699117"/>
            <a:ext cx="8931643" cy="133935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SA" sz="8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وَعَلَيْكُمُ </a:t>
            </a:r>
            <a:r>
              <a:rPr lang="ar-SA" sz="8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السَّلَامُ</a:t>
            </a:r>
            <a:endParaRPr lang="ar-SA" sz="8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4D5AD04-7584-B3CC-F74C-20B816F57C48}"/>
              </a:ext>
            </a:extLst>
          </p:cNvPr>
          <p:cNvSpPr txBox="1">
            <a:spLocks/>
          </p:cNvSpPr>
          <p:nvPr/>
        </p:nvSpPr>
        <p:spPr>
          <a:xfrm>
            <a:off x="419564" y="5070146"/>
            <a:ext cx="4572765" cy="699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it mean? </a:t>
            </a:r>
            <a:endParaRPr lang="en-GB" sz="32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EC5952D-D541-8AB3-005F-B63E7E052448}"/>
              </a:ext>
            </a:extLst>
          </p:cNvPr>
          <p:cNvSpPr txBox="1">
            <a:spLocks/>
          </p:cNvSpPr>
          <p:nvPr/>
        </p:nvSpPr>
        <p:spPr>
          <a:xfrm>
            <a:off x="1012801" y="5540962"/>
            <a:ext cx="3620244" cy="13758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SA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وَعَلَيْكُمُ السَّلَامُ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132E6AD-5593-3838-46A6-EEF6E4FCBF3C}"/>
              </a:ext>
            </a:extLst>
          </p:cNvPr>
          <p:cNvSpPr txBox="1">
            <a:spLocks/>
          </p:cNvSpPr>
          <p:nvPr/>
        </p:nvSpPr>
        <p:spPr>
          <a:xfrm>
            <a:off x="419564" y="2991777"/>
            <a:ext cx="11497911" cy="584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reply?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15E1D0F9-E429-D3DD-863E-996C86F840F5}"/>
              </a:ext>
            </a:extLst>
          </p:cNvPr>
          <p:cNvSpPr txBox="1">
            <a:spLocks/>
          </p:cNvSpPr>
          <p:nvPr/>
        </p:nvSpPr>
        <p:spPr>
          <a:xfrm>
            <a:off x="4992329" y="1761126"/>
            <a:ext cx="6961162" cy="11079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   </a:t>
            </a:r>
            <a:r>
              <a:rPr lang="en-GB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Peace be upon you.</a:t>
            </a:r>
          </a:p>
          <a:p>
            <a:pPr algn="l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   </a:t>
            </a:r>
            <a:r>
              <a:rPr lang="en-AU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the Islamic way of greeting.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C7D5ABDC-4A1D-469C-A4BA-4F8C89616CD0}"/>
              </a:ext>
            </a:extLst>
          </p:cNvPr>
          <p:cNvSpPr txBox="1">
            <a:spLocks/>
          </p:cNvSpPr>
          <p:nvPr/>
        </p:nvSpPr>
        <p:spPr>
          <a:xfrm>
            <a:off x="5140662" y="5048513"/>
            <a:ext cx="6799602" cy="6997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       </a:t>
            </a:r>
            <a:r>
              <a:rPr lang="en-AU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peace be upon you too</a:t>
            </a:r>
            <a:r>
              <a:rPr lang="en-GB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142F7802-C820-CE03-DACD-20BC6A4FE6A9}"/>
              </a:ext>
            </a:extLst>
          </p:cNvPr>
          <p:cNvSpPr txBox="1">
            <a:spLocks/>
          </p:cNvSpPr>
          <p:nvPr/>
        </p:nvSpPr>
        <p:spPr>
          <a:xfrm>
            <a:off x="7916616" y="5769928"/>
            <a:ext cx="3487926" cy="1375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ar-SA" sz="6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السَّلَامُ عَلَيْكُمْ</a:t>
            </a:r>
            <a:endParaRPr lang="en-GB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91F7BA98-6604-ACFB-E4B0-BF3C13B866EA}"/>
              </a:ext>
            </a:extLst>
          </p:cNvPr>
          <p:cNvSpPr txBox="1">
            <a:spLocks/>
          </p:cNvSpPr>
          <p:nvPr/>
        </p:nvSpPr>
        <p:spPr>
          <a:xfrm>
            <a:off x="5564485" y="5769928"/>
            <a:ext cx="1235934" cy="840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6000" dirty="0">
                <a:solidFill>
                  <a:srgbClr val="FFC000"/>
                </a:solidFill>
                <a:sym typeface="Wingdings" panose="05000000000000000000" pitchFamily="2" charset="2"/>
              </a:rPr>
              <a:t></a:t>
            </a:r>
            <a:endParaRPr lang="ar-SA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4661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  <p:sndAc>
          <p:stSnd>
            <p:snd r:embed="rId2" name="wind.wav"/>
          </p:stSnd>
        </p:sndAc>
      </p:transition>
    </mc:Choice>
    <mc:Fallback xmlns="">
      <p:transition spd="slow">
        <p:fade/>
        <p:sndAc>
          <p:stSnd>
            <p:snd r:embed="rId11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3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xit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2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2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  <p:bldP spid="2" grpId="4"/>
      <p:bldP spid="3" grpId="0" build="p"/>
      <p:bldP spid="6" grpId="0" build="allAtOnce"/>
      <p:bldP spid="6" grpId="1" build="allAtOnce"/>
      <p:bldP spid="6" grpId="2" build="allAtOnce"/>
      <p:bldP spid="6" grpId="3" build="allAtOnce"/>
      <p:bldP spid="10" grpId="0" build="allAtOnce"/>
      <p:bldP spid="14" grpId="0"/>
      <p:bldP spid="14" grpId="1"/>
      <p:bldP spid="18" grpId="0" build="allAtOnce"/>
      <p:bldP spid="21" grpId="0" build="allAtOnce"/>
      <p:bldP spid="22" grpId="0"/>
      <p:bldP spid="22" grpId="1"/>
      <p:bldP spid="23" grpId="0"/>
      <p:bldP spid="23" grpId="3"/>
      <p:bldP spid="24" grpId="0"/>
      <p:bldP spid="2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84B7609-1612-AF13-B3D8-05148BCE32C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8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45" t="10131" r="6609" b="9247"/>
          <a:stretch/>
        </p:blipFill>
        <p:spPr>
          <a:xfrm>
            <a:off x="-60000" y="0"/>
            <a:ext cx="12312000" cy="6912000"/>
          </a:xfrm>
          <a:prstGeom prst="rect">
            <a:avLst/>
          </a:prstGeom>
        </p:spPr>
      </p:pic>
      <p:pic>
        <p:nvPicPr>
          <p:cNvPr id="19" name="Picture 18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2EE5C668-9945-89F1-0A9C-BDDE7CC549C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07" y="856355"/>
            <a:ext cx="1165123" cy="11651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891048-7ECA-B88B-C755-DC3DEBCBD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0690" y="85225"/>
            <a:ext cx="8931643" cy="1553167"/>
          </a:xfrm>
        </p:spPr>
        <p:txBody>
          <a:bodyPr anchor="ctr" anchorCtr="0">
            <a:normAutofit/>
          </a:bodyPr>
          <a:lstStyle/>
          <a:p>
            <a:r>
              <a:rPr lang="ar-SA" sz="8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ما </a:t>
            </a:r>
            <a:r>
              <a:rPr lang="ar-SA" sz="88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إسْمُك</a:t>
            </a:r>
            <a:r>
              <a:rPr lang="ar-EG" sz="8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؟</a:t>
            </a:r>
            <a:endParaRPr lang="ar-SA" sz="8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6CBED-FFCC-5F4E-0188-999E58F1F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54356"/>
            <a:ext cx="3900822" cy="584606"/>
          </a:xfrm>
        </p:spPr>
        <p:txBody>
          <a:bodyPr>
            <a:normAutofit/>
          </a:bodyPr>
          <a:lstStyle/>
          <a:p>
            <a:pPr algn="l"/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it mean? </a:t>
            </a:r>
            <a:endParaRPr lang="en-AU" sz="32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16376B-AB01-90A1-5B3A-281A5A74F26F}"/>
              </a:ext>
            </a:extLst>
          </p:cNvPr>
          <p:cNvSpPr txBox="1">
            <a:spLocks/>
          </p:cNvSpPr>
          <p:nvPr/>
        </p:nvSpPr>
        <p:spPr>
          <a:xfrm>
            <a:off x="1524000" y="450756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5400" dirty="0"/>
          </a:p>
        </p:txBody>
      </p:sp>
      <p:pic>
        <p:nvPicPr>
          <p:cNvPr id="7" name="Picture 6" descr="A drawing of a pencil&#10;&#10;AI-generated content may be incorrect.">
            <a:extLst>
              <a:ext uri="{FF2B5EF4-FFF2-40B4-BE49-F238E27FC236}">
                <a16:creationId xmlns:a16="http://schemas.microsoft.com/office/drawing/2014/main" id="{7113E900-F5E4-C558-75C3-5A28D79523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64" y="6336074"/>
            <a:ext cx="444192" cy="521926"/>
          </a:xfrm>
          <a:prstGeom prst="rect">
            <a:avLst/>
          </a:prstGeom>
        </p:spPr>
      </p:pic>
      <p:pic>
        <p:nvPicPr>
          <p:cNvPr id="9" name="Picture 8" descr="An orange book with a rectangular window&#10;&#10;AI-generated content may be incorrect.">
            <a:extLst>
              <a:ext uri="{FF2B5EF4-FFF2-40B4-BE49-F238E27FC236}">
                <a16:creationId xmlns:a16="http://schemas.microsoft.com/office/drawing/2014/main" id="{139D42C4-0152-64D7-242F-C355B01228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0151" y="6141215"/>
            <a:ext cx="661849" cy="716785"/>
          </a:xfrm>
          <a:prstGeom prst="rect">
            <a:avLst/>
          </a:prstGeom>
        </p:spPr>
      </p:pic>
      <p:pic>
        <p:nvPicPr>
          <p:cNvPr id="11" name="Picture 10" descr="A yellow object with a black background&#10;&#10;AI-generated content may be incorrect.">
            <a:extLst>
              <a:ext uri="{FF2B5EF4-FFF2-40B4-BE49-F238E27FC236}">
                <a16:creationId xmlns:a16="http://schemas.microsoft.com/office/drawing/2014/main" id="{775A6677-D925-DCE7-0894-AD3567B44A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0" y="18871"/>
            <a:ext cx="251667" cy="656198"/>
          </a:xfrm>
          <a:prstGeom prst="rect">
            <a:avLst/>
          </a:prstGeom>
        </p:spPr>
      </p:pic>
      <p:pic>
        <p:nvPicPr>
          <p:cNvPr id="15" name="Picture 14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00B297BB-94C1-61E6-7739-BB07388B69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30151" y="85225"/>
            <a:ext cx="523490" cy="523490"/>
          </a:xfrm>
          <a:prstGeom prst="rect">
            <a:avLst/>
          </a:prstGeom>
        </p:spPr>
      </p:pic>
      <p:pic>
        <p:nvPicPr>
          <p:cNvPr id="16" name="Picture 15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4B080C15-6EA7-EA30-8C1E-08D2F2AD93FC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8510" y="2530567"/>
            <a:ext cx="523490" cy="523490"/>
          </a:xfrm>
          <a:prstGeom prst="rect">
            <a:avLst/>
          </a:prstGeom>
        </p:spPr>
      </p:pic>
      <p:pic>
        <p:nvPicPr>
          <p:cNvPr id="17" name="Picture 16" descr="A drawing of a pencil&#10;&#10;AI-generated content may be incorrect.">
            <a:extLst>
              <a:ext uri="{FF2B5EF4-FFF2-40B4-BE49-F238E27FC236}">
                <a16:creationId xmlns:a16="http://schemas.microsoft.com/office/drawing/2014/main" id="{5EFBA21F-3C3B-256D-594A-9E55157DFC1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350" y="3924446"/>
            <a:ext cx="444192" cy="521926"/>
          </a:xfrm>
          <a:prstGeom prst="rect">
            <a:avLst/>
          </a:prstGeom>
        </p:spPr>
      </p:pic>
      <p:pic>
        <p:nvPicPr>
          <p:cNvPr id="20" name="Picture 19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A0139793-2D93-2DBA-7772-1104FEA0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344" y="-163741"/>
            <a:ext cx="1165123" cy="116512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9EB5E6B-BBF2-A9CB-77E8-AB7D98D6B7D4}"/>
              </a:ext>
            </a:extLst>
          </p:cNvPr>
          <p:cNvSpPr txBox="1">
            <a:spLocks/>
          </p:cNvSpPr>
          <p:nvPr/>
        </p:nvSpPr>
        <p:spPr>
          <a:xfrm>
            <a:off x="435628" y="3758888"/>
            <a:ext cx="11363082" cy="2936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sz="5400" dirty="0"/>
          </a:p>
          <a:p>
            <a:br>
              <a:rPr lang="en-AU" sz="5400" dirty="0"/>
            </a:br>
            <a:endParaRPr lang="ar-EG" sz="5400" dirty="0"/>
          </a:p>
          <a:p>
            <a:endParaRPr lang="en-GB" sz="5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CE0A63-B086-48BC-1F3A-CE73D3E37D2B}"/>
              </a:ext>
            </a:extLst>
          </p:cNvPr>
          <p:cNvSpPr txBox="1">
            <a:spLocks/>
          </p:cNvSpPr>
          <p:nvPr/>
        </p:nvSpPr>
        <p:spPr>
          <a:xfrm>
            <a:off x="1720690" y="4233019"/>
            <a:ext cx="8931643" cy="133935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SA" sz="8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إسْمي</a:t>
            </a:r>
            <a:r>
              <a:rPr lang="ar-EG" sz="8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يوسف</a:t>
            </a:r>
            <a:r>
              <a:rPr lang="en-AU" sz="8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ar-SA" sz="8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132E6AD-5593-3838-46A6-EEF6E4FCBF3C}"/>
              </a:ext>
            </a:extLst>
          </p:cNvPr>
          <p:cNvSpPr txBox="1">
            <a:spLocks/>
          </p:cNvSpPr>
          <p:nvPr/>
        </p:nvSpPr>
        <p:spPr>
          <a:xfrm>
            <a:off x="527444" y="4092526"/>
            <a:ext cx="11497911" cy="584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reply?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15E1D0F9-E429-D3DD-863E-996C86F840F5}"/>
              </a:ext>
            </a:extLst>
          </p:cNvPr>
          <p:cNvSpPr txBox="1">
            <a:spLocks/>
          </p:cNvSpPr>
          <p:nvPr/>
        </p:nvSpPr>
        <p:spPr>
          <a:xfrm>
            <a:off x="5710264" y="1562676"/>
            <a:ext cx="4690752" cy="6259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</a:t>
            </a:r>
            <a:r>
              <a:rPr lang="en-GB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your name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CF52EC-4616-2269-899B-FE85005D1BA7}"/>
              </a:ext>
            </a:extLst>
          </p:cNvPr>
          <p:cNvSpPr txBox="1">
            <a:spLocks/>
          </p:cNvSpPr>
          <p:nvPr/>
        </p:nvSpPr>
        <p:spPr>
          <a:xfrm>
            <a:off x="1651347" y="5376825"/>
            <a:ext cx="8931643" cy="133935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SA" sz="8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إسْمي</a:t>
            </a:r>
            <a:r>
              <a:rPr lang="ar-EG" sz="8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لونا</a:t>
            </a:r>
            <a:r>
              <a:rPr lang="en-AU" sz="8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ar-SA" sz="8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D50DF7AE-3B91-2B2D-CD30-707013C2C62A}"/>
              </a:ext>
            </a:extLst>
          </p:cNvPr>
          <p:cNvSpPr txBox="1">
            <a:spLocks/>
          </p:cNvSpPr>
          <p:nvPr/>
        </p:nvSpPr>
        <p:spPr>
          <a:xfrm>
            <a:off x="6074848" y="2170686"/>
            <a:ext cx="4932213" cy="6259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6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</a:t>
            </a:r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ar-SA" sz="6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ما </a:t>
            </a:r>
            <a:r>
              <a:rPr lang="ar-SA" sz="60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إسْمُك</a:t>
            </a:r>
            <a:r>
              <a:rPr lang="ar-EG" sz="6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َ</a:t>
            </a:r>
            <a:endParaRPr lang="en-GB" sz="6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BAB4C179-C26F-A5C8-1D9A-68BFAA6147B9}"/>
              </a:ext>
            </a:extLst>
          </p:cNvPr>
          <p:cNvSpPr txBox="1">
            <a:spLocks/>
          </p:cNvSpPr>
          <p:nvPr/>
        </p:nvSpPr>
        <p:spPr>
          <a:xfrm>
            <a:off x="6099885" y="3112538"/>
            <a:ext cx="4932213" cy="6259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</a:t>
            </a:r>
            <a:r>
              <a:rPr lang="ar-SA" sz="6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ما </a:t>
            </a:r>
            <a:r>
              <a:rPr lang="ar-SA" sz="600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إسْمُك</a:t>
            </a:r>
            <a:r>
              <a:rPr lang="ar-EG" sz="6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ِ</a:t>
            </a:r>
            <a:endParaRPr lang="en-GB" sz="6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7B5D5814-B355-2404-BEE2-2F94ED895D89}"/>
              </a:ext>
            </a:extLst>
          </p:cNvPr>
          <p:cNvSpPr txBox="1">
            <a:spLocks/>
          </p:cNvSpPr>
          <p:nvPr/>
        </p:nvSpPr>
        <p:spPr>
          <a:xfrm>
            <a:off x="2199063" y="2286773"/>
            <a:ext cx="3900822" cy="584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When we ask a Boy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A2A653FB-4344-2585-B021-D969B4397007}"/>
              </a:ext>
            </a:extLst>
          </p:cNvPr>
          <p:cNvSpPr txBox="1">
            <a:spLocks/>
          </p:cNvSpPr>
          <p:nvPr/>
        </p:nvSpPr>
        <p:spPr>
          <a:xfrm>
            <a:off x="2199063" y="3281717"/>
            <a:ext cx="3900822" cy="584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we ask a Girl</a:t>
            </a:r>
            <a:endParaRPr lang="en-AU" sz="32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30" name="Picture 29" descr="A cartoon of a child&#10;&#10;AI-generated content may be incorrect.">
            <a:extLst>
              <a:ext uri="{FF2B5EF4-FFF2-40B4-BE49-F238E27FC236}">
                <a16:creationId xmlns:a16="http://schemas.microsoft.com/office/drawing/2014/main" id="{67F651BC-60DC-001F-0F6C-1B068E3B53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9210" y="1861639"/>
            <a:ext cx="1152146" cy="2438405"/>
          </a:xfrm>
          <a:prstGeom prst="rect">
            <a:avLst/>
          </a:prstGeom>
        </p:spPr>
      </p:pic>
      <p:pic>
        <p:nvPicPr>
          <p:cNvPr id="32" name="Picture 31" descr="Cartoon child in a pink dress&#10;&#10;AI-generated content may be incorrect.">
            <a:extLst>
              <a:ext uri="{FF2B5EF4-FFF2-40B4-BE49-F238E27FC236}">
                <a16:creationId xmlns:a16="http://schemas.microsoft.com/office/drawing/2014/main" id="{36509EAA-7C67-A4B0-2728-6A3E54C052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0" t="1008" r="24667"/>
          <a:stretch/>
        </p:blipFill>
        <p:spPr>
          <a:xfrm>
            <a:off x="330840" y="1985149"/>
            <a:ext cx="1193160" cy="192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030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2" name="wind.wav"/>
          </p:stSnd>
        </p:sndAc>
      </p:transition>
    </mc:Choice>
    <mc:Fallback>
      <p:transition spd="slow">
        <p:fade/>
        <p:sndAc>
          <p:stSnd>
            <p:snd r:embed="rId2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2.96296E-6 L -0.42669 -0.14028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41" y="-7014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22" presetClass="entr" presetSubtype="4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  <p:bldP spid="6" grpId="1"/>
      <p:bldP spid="6" grpId="2"/>
      <p:bldP spid="6" grpId="3"/>
      <p:bldP spid="18" grpId="0"/>
      <p:bldP spid="18" grpId="1"/>
      <p:bldP spid="18" grpId="2"/>
      <p:bldP spid="18" grpId="3"/>
      <p:bldP spid="18" grpId="4"/>
      <p:bldP spid="18" grpId="5"/>
      <p:bldP spid="18" grpId="6"/>
      <p:bldP spid="18" grpId="7"/>
      <p:bldP spid="21" grpId="0"/>
      <p:bldP spid="8" grpId="0"/>
      <p:bldP spid="8" grpId="1"/>
      <p:bldP spid="8" grpId="2"/>
      <p:bldP spid="8" grpId="3"/>
      <p:bldP spid="25" grpId="0"/>
      <p:bldP spid="25" grpId="1"/>
      <p:bldP spid="25" grpId="2"/>
      <p:bldP spid="25" grpId="3"/>
      <p:bldP spid="25" grpId="4"/>
      <p:bldP spid="25" grpId="5"/>
      <p:bldP spid="25" grpId="6"/>
      <p:bldP spid="25" grpId="7"/>
      <p:bldP spid="25" grpId="8"/>
      <p:bldP spid="26" grpId="0"/>
      <p:bldP spid="26" grpId="1"/>
      <p:bldP spid="26" grpId="2"/>
      <p:bldP spid="26" grpId="3"/>
      <p:bldP spid="26" grpId="4"/>
      <p:bldP spid="26" grpId="5"/>
      <p:bldP spid="26" grpId="6"/>
      <p:bldP spid="26" grpId="7"/>
      <p:bldP spid="26" grpId="8"/>
      <p:bldP spid="26" grpId="9"/>
      <p:bldP spid="27" grpId="0"/>
      <p:bldP spid="27" grpId="1"/>
      <p:bldP spid="28" grpId="0"/>
      <p:bldP spid="2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84B7609-1612-AF13-B3D8-05148BCE32C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8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45" t="10131" r="6609" b="9247"/>
          <a:stretch/>
        </p:blipFill>
        <p:spPr>
          <a:xfrm>
            <a:off x="-88152" y="0"/>
            <a:ext cx="12312000" cy="6912000"/>
          </a:xfrm>
          <a:prstGeom prst="rect">
            <a:avLst/>
          </a:prstGeom>
        </p:spPr>
      </p:pic>
      <p:pic>
        <p:nvPicPr>
          <p:cNvPr id="19" name="Picture 18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2EE5C668-9945-89F1-0A9C-BDDE7CC549C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07" y="856355"/>
            <a:ext cx="1165123" cy="11651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891048-7ECA-B88B-C755-DC3DEBCBD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2698" y="85225"/>
            <a:ext cx="8931643" cy="1553167"/>
          </a:xfrm>
        </p:spPr>
        <p:txBody>
          <a:bodyPr anchor="ctr" anchorCtr="0">
            <a:normAutofit/>
          </a:bodyPr>
          <a:lstStyle/>
          <a:p>
            <a:r>
              <a:rPr lang="ar-SA" sz="8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كَيْفَ حالُك؟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6CBED-FFCC-5F4E-0188-999E58F1F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888" y="1350133"/>
            <a:ext cx="4690752" cy="607208"/>
          </a:xfrm>
        </p:spPr>
        <p:txBody>
          <a:bodyPr>
            <a:norm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it mean?</a:t>
            </a:r>
            <a:endParaRPr lang="en-AU" sz="32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16376B-AB01-90A1-5B3A-281A5A74F26F}"/>
              </a:ext>
            </a:extLst>
          </p:cNvPr>
          <p:cNvSpPr txBox="1">
            <a:spLocks/>
          </p:cNvSpPr>
          <p:nvPr/>
        </p:nvSpPr>
        <p:spPr>
          <a:xfrm>
            <a:off x="1524000" y="450756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5400" dirty="0"/>
          </a:p>
        </p:txBody>
      </p:sp>
      <p:pic>
        <p:nvPicPr>
          <p:cNvPr id="7" name="Picture 6" descr="A drawing of a pencil&#10;&#10;AI-generated content may be incorrect.">
            <a:extLst>
              <a:ext uri="{FF2B5EF4-FFF2-40B4-BE49-F238E27FC236}">
                <a16:creationId xmlns:a16="http://schemas.microsoft.com/office/drawing/2014/main" id="{7113E900-F5E4-C558-75C3-5A28D79523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64" y="6336074"/>
            <a:ext cx="444192" cy="521926"/>
          </a:xfrm>
          <a:prstGeom prst="rect">
            <a:avLst/>
          </a:prstGeom>
        </p:spPr>
      </p:pic>
      <p:pic>
        <p:nvPicPr>
          <p:cNvPr id="9" name="Picture 8" descr="An orange book with a rectangular window&#10;&#10;AI-generated content may be incorrect.">
            <a:extLst>
              <a:ext uri="{FF2B5EF4-FFF2-40B4-BE49-F238E27FC236}">
                <a16:creationId xmlns:a16="http://schemas.microsoft.com/office/drawing/2014/main" id="{139D42C4-0152-64D7-242F-C355B01228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0151" y="6141215"/>
            <a:ext cx="661849" cy="716785"/>
          </a:xfrm>
          <a:prstGeom prst="rect">
            <a:avLst/>
          </a:prstGeom>
        </p:spPr>
      </p:pic>
      <p:pic>
        <p:nvPicPr>
          <p:cNvPr id="11" name="Picture 10" descr="A yellow object with a black background&#10;&#10;AI-generated content may be incorrect.">
            <a:extLst>
              <a:ext uri="{FF2B5EF4-FFF2-40B4-BE49-F238E27FC236}">
                <a16:creationId xmlns:a16="http://schemas.microsoft.com/office/drawing/2014/main" id="{775A6677-D925-DCE7-0894-AD3567B44A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0" y="18871"/>
            <a:ext cx="251667" cy="656198"/>
          </a:xfrm>
          <a:prstGeom prst="rect">
            <a:avLst/>
          </a:prstGeom>
        </p:spPr>
      </p:pic>
      <p:pic>
        <p:nvPicPr>
          <p:cNvPr id="15" name="Picture 14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00B297BB-94C1-61E6-7739-BB07388B69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30151" y="85225"/>
            <a:ext cx="523490" cy="523490"/>
          </a:xfrm>
          <a:prstGeom prst="rect">
            <a:avLst/>
          </a:prstGeom>
        </p:spPr>
      </p:pic>
      <p:pic>
        <p:nvPicPr>
          <p:cNvPr id="16" name="Picture 15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4B080C15-6EA7-EA30-8C1E-08D2F2AD93FC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8510" y="2530567"/>
            <a:ext cx="523490" cy="523490"/>
          </a:xfrm>
          <a:prstGeom prst="rect">
            <a:avLst/>
          </a:prstGeom>
        </p:spPr>
      </p:pic>
      <p:pic>
        <p:nvPicPr>
          <p:cNvPr id="17" name="Picture 16" descr="A drawing of a pencil&#10;&#10;AI-generated content may be incorrect.">
            <a:extLst>
              <a:ext uri="{FF2B5EF4-FFF2-40B4-BE49-F238E27FC236}">
                <a16:creationId xmlns:a16="http://schemas.microsoft.com/office/drawing/2014/main" id="{5EFBA21F-3C3B-256D-594A-9E55157DFC1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350" y="3924446"/>
            <a:ext cx="444192" cy="521926"/>
          </a:xfrm>
          <a:prstGeom prst="rect">
            <a:avLst/>
          </a:prstGeom>
        </p:spPr>
      </p:pic>
      <p:pic>
        <p:nvPicPr>
          <p:cNvPr id="20" name="Picture 19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A0139793-2D93-2DBA-7772-1104FEA0FA4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344" y="-163741"/>
            <a:ext cx="1165123" cy="116512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9EB5E6B-BBF2-A9CB-77E8-AB7D98D6B7D4}"/>
              </a:ext>
            </a:extLst>
          </p:cNvPr>
          <p:cNvSpPr txBox="1">
            <a:spLocks/>
          </p:cNvSpPr>
          <p:nvPr/>
        </p:nvSpPr>
        <p:spPr>
          <a:xfrm>
            <a:off x="435628" y="3758888"/>
            <a:ext cx="11363082" cy="2936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sz="5400" dirty="0"/>
          </a:p>
          <a:p>
            <a:br>
              <a:rPr lang="en-AU" sz="5400" dirty="0"/>
            </a:br>
            <a:endParaRPr lang="ar-EG" sz="5400" dirty="0"/>
          </a:p>
          <a:p>
            <a:endParaRPr lang="en-GB" sz="5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CE0A63-B086-48BC-1F3A-CE73D3E37D2B}"/>
              </a:ext>
            </a:extLst>
          </p:cNvPr>
          <p:cNvSpPr txBox="1">
            <a:spLocks/>
          </p:cNvSpPr>
          <p:nvPr/>
        </p:nvSpPr>
        <p:spPr>
          <a:xfrm>
            <a:off x="1688459" y="3980772"/>
            <a:ext cx="8931643" cy="133935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8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أَنَا بِخَيْر، الْحَمْدُ لِلَّه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4D5AD04-7584-B3CC-F74C-20B816F57C48}"/>
              </a:ext>
            </a:extLst>
          </p:cNvPr>
          <p:cNvSpPr txBox="1">
            <a:spLocks/>
          </p:cNvSpPr>
          <p:nvPr/>
        </p:nvSpPr>
        <p:spPr>
          <a:xfrm>
            <a:off x="414767" y="5186798"/>
            <a:ext cx="4572765" cy="699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it mean? </a:t>
            </a:r>
            <a:endParaRPr lang="en-GB" sz="32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EC5952D-D541-8AB3-005F-B63E7E052448}"/>
              </a:ext>
            </a:extLst>
          </p:cNvPr>
          <p:cNvSpPr txBox="1">
            <a:spLocks/>
          </p:cNvSpPr>
          <p:nvPr/>
        </p:nvSpPr>
        <p:spPr>
          <a:xfrm>
            <a:off x="908472" y="5540962"/>
            <a:ext cx="4423720" cy="13758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SA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أَنَا بِخَيْر، الْحَمْدُ لِلَّه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132E6AD-5593-3838-46A6-EEF6E4FCBF3C}"/>
              </a:ext>
            </a:extLst>
          </p:cNvPr>
          <p:cNvSpPr txBox="1">
            <a:spLocks/>
          </p:cNvSpPr>
          <p:nvPr/>
        </p:nvSpPr>
        <p:spPr>
          <a:xfrm>
            <a:off x="500255" y="3470275"/>
            <a:ext cx="11497911" cy="584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reply?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15E1D0F9-E429-D3DD-863E-996C86F840F5}"/>
              </a:ext>
            </a:extLst>
          </p:cNvPr>
          <p:cNvSpPr txBox="1">
            <a:spLocks/>
          </p:cNvSpPr>
          <p:nvPr/>
        </p:nvSpPr>
        <p:spPr>
          <a:xfrm>
            <a:off x="5631198" y="1386157"/>
            <a:ext cx="3795730" cy="5846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   </a:t>
            </a:r>
            <a:r>
              <a:rPr lang="en-GB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are you</a:t>
            </a:r>
          </a:p>
          <a:p>
            <a:pPr algn="l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AU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C7D5ABDC-4A1D-469C-A4BA-4F8C89616CD0}"/>
              </a:ext>
            </a:extLst>
          </p:cNvPr>
          <p:cNvSpPr txBox="1">
            <a:spLocks/>
          </p:cNvSpPr>
          <p:nvPr/>
        </p:nvSpPr>
        <p:spPr>
          <a:xfrm>
            <a:off x="5135865" y="5165165"/>
            <a:ext cx="6799602" cy="6997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       </a:t>
            </a:r>
            <a:r>
              <a:rPr lang="en-AU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I’m fine, praise be to God.</a:t>
            </a:r>
            <a:endParaRPr lang="en-GB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142F7802-C820-CE03-DACD-20BC6A4FE6A9}"/>
              </a:ext>
            </a:extLst>
          </p:cNvPr>
          <p:cNvSpPr txBox="1">
            <a:spLocks/>
          </p:cNvSpPr>
          <p:nvPr/>
        </p:nvSpPr>
        <p:spPr>
          <a:xfrm>
            <a:off x="7132176" y="5769928"/>
            <a:ext cx="3487926" cy="1375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ar-SA" sz="6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كَيْفَ حالُك</a:t>
            </a:r>
            <a:r>
              <a:rPr lang="ar-EG" sz="6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ِ</a:t>
            </a:r>
            <a:r>
              <a:rPr lang="ar-SA" sz="6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؟</a:t>
            </a:r>
            <a:endParaRPr lang="en-GB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91F7BA98-6604-ACFB-E4B0-BF3C13B866EA}"/>
              </a:ext>
            </a:extLst>
          </p:cNvPr>
          <p:cNvSpPr txBox="1">
            <a:spLocks/>
          </p:cNvSpPr>
          <p:nvPr/>
        </p:nvSpPr>
        <p:spPr>
          <a:xfrm>
            <a:off x="5564485" y="5769928"/>
            <a:ext cx="1235934" cy="840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6000" dirty="0">
                <a:solidFill>
                  <a:srgbClr val="FFC000"/>
                </a:solidFill>
                <a:sym typeface="Wingdings" panose="05000000000000000000" pitchFamily="2" charset="2"/>
              </a:rPr>
              <a:t></a:t>
            </a:r>
            <a:endParaRPr lang="ar-SA" sz="6000" dirty="0">
              <a:solidFill>
                <a:srgbClr val="FF000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C58B348-CF9B-F9E1-7A0B-FC3E666B7E08}"/>
              </a:ext>
            </a:extLst>
          </p:cNvPr>
          <p:cNvSpPr txBox="1">
            <a:spLocks/>
          </p:cNvSpPr>
          <p:nvPr/>
        </p:nvSpPr>
        <p:spPr>
          <a:xfrm>
            <a:off x="5631198" y="2035492"/>
            <a:ext cx="3795730" cy="5846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</a:t>
            </a:r>
            <a:r>
              <a:rPr lang="ar-SA" sz="5400" dirty="0">
                <a:solidFill>
                  <a:srgbClr val="0070C0"/>
                </a:solidFill>
                <a:latin typeface="Arial" panose="020B0604020202020204" pitchFamily="34" charset="0"/>
              </a:rPr>
              <a:t>كَيْفَ حالُكَ؟</a:t>
            </a:r>
            <a:r>
              <a:rPr lang="en-AU" sz="5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AU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F3FDDAD-39F1-96F2-9730-BF6E2FC99C87}"/>
              </a:ext>
            </a:extLst>
          </p:cNvPr>
          <p:cNvSpPr txBox="1">
            <a:spLocks/>
          </p:cNvSpPr>
          <p:nvPr/>
        </p:nvSpPr>
        <p:spPr>
          <a:xfrm>
            <a:off x="5600864" y="2822720"/>
            <a:ext cx="3936342" cy="9079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</a:t>
            </a:r>
            <a:r>
              <a:rPr lang="ar-SA" sz="5400" dirty="0">
                <a:solidFill>
                  <a:srgbClr val="0070C0"/>
                </a:solidFill>
                <a:latin typeface="Arial" panose="020B0604020202020204" pitchFamily="34" charset="0"/>
              </a:rPr>
              <a:t>كَيْفَ حالُكِ؟</a:t>
            </a:r>
          </a:p>
          <a:p>
            <a:pPr algn="l"/>
            <a:endParaRPr lang="ar-SA" sz="3200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l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AU" sz="3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EEF50C6B-1BDF-D290-EED7-A90015EAEF1C}"/>
              </a:ext>
            </a:extLst>
          </p:cNvPr>
          <p:cNvSpPr txBox="1">
            <a:spLocks/>
          </p:cNvSpPr>
          <p:nvPr/>
        </p:nvSpPr>
        <p:spPr>
          <a:xfrm>
            <a:off x="1143888" y="2207206"/>
            <a:ext cx="4690752" cy="60720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we speak to a Boy</a:t>
            </a:r>
            <a:endParaRPr lang="en-AU" sz="32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FE99F95F-E7AE-E7DA-7786-531282FE7FF3}"/>
              </a:ext>
            </a:extLst>
          </p:cNvPr>
          <p:cNvSpPr txBox="1">
            <a:spLocks/>
          </p:cNvSpPr>
          <p:nvPr/>
        </p:nvSpPr>
        <p:spPr>
          <a:xfrm>
            <a:off x="1193397" y="2999253"/>
            <a:ext cx="4690752" cy="60720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we speak to a girl</a:t>
            </a:r>
            <a:endParaRPr lang="en-AU" sz="32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27" name="Picture 26" descr="A cartoon of a child&#10;&#10;AI-generated content may be incorrect.">
            <a:extLst>
              <a:ext uri="{FF2B5EF4-FFF2-40B4-BE49-F238E27FC236}">
                <a16:creationId xmlns:a16="http://schemas.microsoft.com/office/drawing/2014/main" id="{AFA1EFA5-E9C8-35F6-49D3-85C2E1A5AAC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870" y="1861639"/>
            <a:ext cx="1152146" cy="2438405"/>
          </a:xfrm>
          <a:prstGeom prst="rect">
            <a:avLst/>
          </a:prstGeom>
        </p:spPr>
      </p:pic>
      <p:pic>
        <p:nvPicPr>
          <p:cNvPr id="28" name="Picture 27" descr="Cartoon child in a pink dress&#10;&#10;AI-generated content may be incorrect.">
            <a:extLst>
              <a:ext uri="{FF2B5EF4-FFF2-40B4-BE49-F238E27FC236}">
                <a16:creationId xmlns:a16="http://schemas.microsoft.com/office/drawing/2014/main" id="{4FECF5F7-F10B-FED5-96C5-209BDE17C4E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0" t="1008" r="24667"/>
          <a:stretch/>
        </p:blipFill>
        <p:spPr>
          <a:xfrm>
            <a:off x="10300064" y="2278140"/>
            <a:ext cx="1193160" cy="1924484"/>
          </a:xfrm>
          <a:prstGeom prst="rect">
            <a:avLst/>
          </a:prstGeom>
        </p:spPr>
      </p:pic>
      <p:sp>
        <p:nvSpPr>
          <p:cNvPr id="29" name="Subtitle 2">
            <a:extLst>
              <a:ext uri="{FF2B5EF4-FFF2-40B4-BE49-F238E27FC236}">
                <a16:creationId xmlns:a16="http://schemas.microsoft.com/office/drawing/2014/main" id="{61DF3336-5BC0-368C-2088-D431E4EEA408}"/>
              </a:ext>
            </a:extLst>
          </p:cNvPr>
          <p:cNvSpPr txBox="1">
            <a:spLocks/>
          </p:cNvSpPr>
          <p:nvPr/>
        </p:nvSpPr>
        <p:spPr>
          <a:xfrm>
            <a:off x="7132176" y="5773749"/>
            <a:ext cx="3487926" cy="821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ar-SA" sz="6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كَيْفَ حالُك</a:t>
            </a:r>
            <a:r>
              <a:rPr lang="ar-EG" sz="6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َ</a:t>
            </a:r>
            <a:r>
              <a:rPr lang="ar-SA" sz="6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؟</a:t>
            </a:r>
            <a:endParaRPr lang="en-GB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517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2" name="wind.wav"/>
          </p:stSnd>
        </p:sndAc>
      </p:transition>
    </mc:Choice>
    <mc:Fallback>
      <p:transition spd="slow">
        <p:fade/>
        <p:sndAc>
          <p:stSnd>
            <p:snd r:embed="rId2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045E-16 -3.7037E-6 L -0.73516 -0.00139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758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451 0.00231 L -0.31093 -0.1213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79" y="-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  <p:bldP spid="6" grpId="1"/>
      <p:bldP spid="6" grpId="2"/>
      <p:bldP spid="10" grpId="0"/>
      <p:bldP spid="10" grpId="1"/>
      <p:bldP spid="14" grpId="0"/>
      <p:bldP spid="14" grpId="1"/>
      <p:bldP spid="14" grpId="2"/>
      <p:bldP spid="14" grpId="3"/>
      <p:bldP spid="18" grpId="0"/>
      <p:bldP spid="21" grpId="0"/>
      <p:bldP spid="22" grpId="0"/>
      <p:bldP spid="22" grpId="1"/>
      <p:bldP spid="23" grpId="0"/>
      <p:bldP spid="23" grpId="1"/>
      <p:bldP spid="24" grpId="0"/>
      <p:bldP spid="24" grpId="1"/>
      <p:bldP spid="24" grpId="2"/>
      <p:bldP spid="24" grpId="3"/>
      <p:bldP spid="8" grpId="0"/>
      <p:bldP spid="8" grpId="1"/>
      <p:bldP spid="8" grpId="2"/>
      <p:bldP spid="8" grpId="3"/>
      <p:bldP spid="12" grpId="0"/>
      <p:bldP spid="12" grpId="1"/>
      <p:bldP spid="12" grpId="2"/>
      <p:bldP spid="12" grpId="3"/>
      <p:bldP spid="12" grpId="4"/>
      <p:bldP spid="25" grpId="0"/>
      <p:bldP spid="25" grpId="1"/>
      <p:bldP spid="26" grpId="0"/>
      <p:bldP spid="26" grpId="1"/>
      <p:bldP spid="29" grpId="0"/>
      <p:bldP spid="2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84B7609-1612-AF13-B3D8-05148BCE32C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8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45" t="10131" r="6609" b="9247"/>
          <a:stretch/>
        </p:blipFill>
        <p:spPr>
          <a:xfrm>
            <a:off x="-60000" y="0"/>
            <a:ext cx="12312000" cy="6912000"/>
          </a:xfrm>
          <a:prstGeom prst="rect">
            <a:avLst/>
          </a:prstGeom>
        </p:spPr>
      </p:pic>
      <p:pic>
        <p:nvPicPr>
          <p:cNvPr id="19" name="Picture 18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2EE5C668-9945-89F1-0A9C-BDDE7CC549C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07" y="856355"/>
            <a:ext cx="1165123" cy="11651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891048-7ECA-B88B-C755-DC3DEBCBD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0690" y="85225"/>
            <a:ext cx="8931643" cy="1553167"/>
          </a:xfrm>
        </p:spPr>
        <p:txBody>
          <a:bodyPr anchor="ctr" anchorCtr="0">
            <a:normAutofit/>
          </a:bodyPr>
          <a:lstStyle/>
          <a:p>
            <a:r>
              <a:rPr lang="ar-SA" sz="8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كَيْفَ حالُك؟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6CBED-FFCC-5F4E-0188-999E58F1F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0690" y="1574879"/>
            <a:ext cx="3900822" cy="584606"/>
          </a:xfrm>
        </p:spPr>
        <p:txBody>
          <a:bodyPr>
            <a:normAutofit/>
          </a:bodyPr>
          <a:lstStyle/>
          <a:p>
            <a:pPr algn="l"/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it mean? </a:t>
            </a:r>
            <a:endParaRPr lang="en-AU" sz="32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16376B-AB01-90A1-5B3A-281A5A74F26F}"/>
              </a:ext>
            </a:extLst>
          </p:cNvPr>
          <p:cNvSpPr txBox="1">
            <a:spLocks/>
          </p:cNvSpPr>
          <p:nvPr/>
        </p:nvSpPr>
        <p:spPr>
          <a:xfrm>
            <a:off x="1524000" y="450756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5400" dirty="0"/>
          </a:p>
        </p:txBody>
      </p:sp>
      <p:pic>
        <p:nvPicPr>
          <p:cNvPr id="7" name="Picture 6" descr="A drawing of a pencil&#10;&#10;AI-generated content may be incorrect.">
            <a:extLst>
              <a:ext uri="{FF2B5EF4-FFF2-40B4-BE49-F238E27FC236}">
                <a16:creationId xmlns:a16="http://schemas.microsoft.com/office/drawing/2014/main" id="{7113E900-F5E4-C558-75C3-5A28D79523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64" y="6336074"/>
            <a:ext cx="444192" cy="521926"/>
          </a:xfrm>
          <a:prstGeom prst="rect">
            <a:avLst/>
          </a:prstGeom>
        </p:spPr>
      </p:pic>
      <p:pic>
        <p:nvPicPr>
          <p:cNvPr id="9" name="Picture 8" descr="An orange book with a rectangular window&#10;&#10;AI-generated content may be incorrect.">
            <a:extLst>
              <a:ext uri="{FF2B5EF4-FFF2-40B4-BE49-F238E27FC236}">
                <a16:creationId xmlns:a16="http://schemas.microsoft.com/office/drawing/2014/main" id="{139D42C4-0152-64D7-242F-C355B01228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0151" y="6141215"/>
            <a:ext cx="661849" cy="716785"/>
          </a:xfrm>
          <a:prstGeom prst="rect">
            <a:avLst/>
          </a:prstGeom>
        </p:spPr>
      </p:pic>
      <p:pic>
        <p:nvPicPr>
          <p:cNvPr id="11" name="Picture 10" descr="A yellow object with a black background&#10;&#10;AI-generated content may be incorrect.">
            <a:extLst>
              <a:ext uri="{FF2B5EF4-FFF2-40B4-BE49-F238E27FC236}">
                <a16:creationId xmlns:a16="http://schemas.microsoft.com/office/drawing/2014/main" id="{775A6677-D925-DCE7-0894-AD3567B44A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0" y="18871"/>
            <a:ext cx="251667" cy="656198"/>
          </a:xfrm>
          <a:prstGeom prst="rect">
            <a:avLst/>
          </a:prstGeom>
        </p:spPr>
      </p:pic>
      <p:pic>
        <p:nvPicPr>
          <p:cNvPr id="15" name="Picture 14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00B297BB-94C1-61E6-7739-BB07388B69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30151" y="85225"/>
            <a:ext cx="523490" cy="523490"/>
          </a:xfrm>
          <a:prstGeom prst="rect">
            <a:avLst/>
          </a:prstGeom>
        </p:spPr>
      </p:pic>
      <p:pic>
        <p:nvPicPr>
          <p:cNvPr id="16" name="Picture 15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4B080C15-6EA7-EA30-8C1E-08D2F2AD93FC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8510" y="2530567"/>
            <a:ext cx="523490" cy="523490"/>
          </a:xfrm>
          <a:prstGeom prst="rect">
            <a:avLst/>
          </a:prstGeom>
        </p:spPr>
      </p:pic>
      <p:pic>
        <p:nvPicPr>
          <p:cNvPr id="17" name="Picture 16" descr="A drawing of a pencil&#10;&#10;AI-generated content may be incorrect.">
            <a:extLst>
              <a:ext uri="{FF2B5EF4-FFF2-40B4-BE49-F238E27FC236}">
                <a16:creationId xmlns:a16="http://schemas.microsoft.com/office/drawing/2014/main" id="{5EFBA21F-3C3B-256D-594A-9E55157DFC1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350" y="3924446"/>
            <a:ext cx="444192" cy="521926"/>
          </a:xfrm>
          <a:prstGeom prst="rect">
            <a:avLst/>
          </a:prstGeom>
        </p:spPr>
      </p:pic>
      <p:pic>
        <p:nvPicPr>
          <p:cNvPr id="20" name="Picture 19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A0139793-2D93-2DBA-7772-1104FEA0FA4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344" y="-163741"/>
            <a:ext cx="1165123" cy="116512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9EB5E6B-BBF2-A9CB-77E8-AB7D98D6B7D4}"/>
              </a:ext>
            </a:extLst>
          </p:cNvPr>
          <p:cNvSpPr txBox="1">
            <a:spLocks/>
          </p:cNvSpPr>
          <p:nvPr/>
        </p:nvSpPr>
        <p:spPr>
          <a:xfrm>
            <a:off x="435628" y="3758888"/>
            <a:ext cx="11363082" cy="2936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sz="5400" dirty="0"/>
          </a:p>
          <a:p>
            <a:br>
              <a:rPr lang="en-AU" sz="5400" dirty="0"/>
            </a:br>
            <a:endParaRPr lang="ar-EG" sz="5400" dirty="0"/>
          </a:p>
          <a:p>
            <a:endParaRPr lang="en-GB" sz="5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CE0A63-B086-48BC-1F3A-CE73D3E37D2B}"/>
              </a:ext>
            </a:extLst>
          </p:cNvPr>
          <p:cNvSpPr txBox="1">
            <a:spLocks/>
          </p:cNvSpPr>
          <p:nvPr/>
        </p:nvSpPr>
        <p:spPr>
          <a:xfrm>
            <a:off x="1720690" y="3091554"/>
            <a:ext cx="8931643" cy="133935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SA" sz="8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إسْمي</a:t>
            </a:r>
            <a:r>
              <a:rPr lang="ar-EG" sz="8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يوسف</a:t>
            </a:r>
            <a:r>
              <a:rPr lang="en-AU" sz="8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ar-SA" sz="8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132E6AD-5593-3838-46A6-EEF6E4FCBF3C}"/>
              </a:ext>
            </a:extLst>
          </p:cNvPr>
          <p:cNvSpPr txBox="1">
            <a:spLocks/>
          </p:cNvSpPr>
          <p:nvPr/>
        </p:nvSpPr>
        <p:spPr>
          <a:xfrm>
            <a:off x="437556" y="2571144"/>
            <a:ext cx="11497911" cy="584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reply?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15E1D0F9-E429-D3DD-863E-996C86F840F5}"/>
              </a:ext>
            </a:extLst>
          </p:cNvPr>
          <p:cNvSpPr txBox="1">
            <a:spLocks/>
          </p:cNvSpPr>
          <p:nvPr/>
        </p:nvSpPr>
        <p:spPr>
          <a:xfrm>
            <a:off x="5710264" y="1562117"/>
            <a:ext cx="4690752" cy="6259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3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</a:t>
            </a:r>
            <a:r>
              <a:rPr lang="en-GB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are you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CF52EC-4616-2269-899B-FE85005D1BA7}"/>
              </a:ext>
            </a:extLst>
          </p:cNvPr>
          <p:cNvSpPr txBox="1">
            <a:spLocks/>
          </p:cNvSpPr>
          <p:nvPr/>
        </p:nvSpPr>
        <p:spPr>
          <a:xfrm>
            <a:off x="1669339" y="4507563"/>
            <a:ext cx="8931643" cy="133935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SA" sz="8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إسْمي</a:t>
            </a:r>
            <a:r>
              <a:rPr lang="ar-EG" sz="8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لونا</a:t>
            </a:r>
            <a:r>
              <a:rPr lang="en-AU" sz="80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ar-SA" sz="80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3884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  <p:sndAc>
          <p:stSnd>
            <p:snd r:embed="rId2" name="wind.wav"/>
          </p:stSnd>
        </p:sndAc>
      </p:transition>
    </mc:Choice>
    <mc:Fallback>
      <p:transition spd="slow">
        <p:fade/>
        <p:sndAc>
          <p:stSnd>
            <p:snd r:embed="rId2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3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3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  <p:bldP spid="2" grpId="4"/>
      <p:bldP spid="3" grpId="0" build="p"/>
      <p:bldP spid="6" grpId="0" build="allAtOnce"/>
      <p:bldP spid="6" grpId="1" build="allAtOnce"/>
      <p:bldP spid="6" grpId="2" build="allAtOnce"/>
      <p:bldP spid="18" grpId="0" build="allAtOnce"/>
      <p:bldP spid="21" grpId="0" build="allAtOnce"/>
      <p:bldP spid="8" grpId="0" build="allAtOnce"/>
      <p:bldP spid="8" grpId="1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84B7609-1612-AF13-B3D8-05148BCE32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45" t="10131" r="6609" b="9247"/>
          <a:stretch/>
        </p:blipFill>
        <p:spPr>
          <a:xfrm>
            <a:off x="-81114" y="-1"/>
            <a:ext cx="12312000" cy="6912000"/>
          </a:xfrm>
          <a:prstGeom prst="rect">
            <a:avLst/>
          </a:prstGeom>
        </p:spPr>
      </p:pic>
      <p:pic>
        <p:nvPicPr>
          <p:cNvPr id="19" name="Picture 18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2EE5C668-9945-89F1-0A9C-BDDE7CC549C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07" y="856355"/>
            <a:ext cx="1165123" cy="11651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891048-7ECA-B88B-C755-DC3DEBCBD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520" y="2577866"/>
            <a:ext cx="9144000" cy="2265213"/>
          </a:xfrm>
        </p:spPr>
        <p:txBody>
          <a:bodyPr anchor="ctr" anchorCtr="0"/>
          <a:lstStyle/>
          <a:p>
            <a:r>
              <a:rPr lang="ar-EG" dirty="0">
                <a:latin typeface="Calibri" panose="020F0502020204030204" pitchFamily="34" charset="0"/>
                <a:cs typeface="Calibri" panose="020F0502020204030204" pitchFamily="34" charset="0"/>
              </a:rPr>
              <a:t>أنا إسْمي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6CBED-FFCC-5F4E-0188-999E58F1F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6272" y="2164706"/>
            <a:ext cx="4001728" cy="1655762"/>
          </a:xfrm>
        </p:spPr>
        <p:txBody>
          <a:bodyPr>
            <a:normAutofit fontScale="55000" lnSpcReduction="20000"/>
          </a:bodyPr>
          <a:lstStyle/>
          <a:p>
            <a:pPr algn="r"/>
            <a:r>
              <a:rPr lang="ar-EG" sz="9600" dirty="0"/>
              <a:t>أنا       </a:t>
            </a:r>
          </a:p>
          <a:p>
            <a:pPr algn="r"/>
            <a:r>
              <a:rPr lang="ar-EG" sz="9600" dirty="0">
                <a:latin typeface="Calibri" panose="020F0502020204030204" pitchFamily="34" charset="0"/>
                <a:cs typeface="Calibri" panose="020F0502020204030204" pitchFamily="34" charset="0"/>
              </a:rPr>
              <a:t>إسمي                 </a:t>
            </a:r>
            <a:endParaRPr lang="en-AU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16376B-AB01-90A1-5B3A-281A5A74F26F}"/>
              </a:ext>
            </a:extLst>
          </p:cNvPr>
          <p:cNvSpPr txBox="1">
            <a:spLocks/>
          </p:cNvSpPr>
          <p:nvPr/>
        </p:nvSpPr>
        <p:spPr>
          <a:xfrm>
            <a:off x="1524000" y="450756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5400" dirty="0"/>
          </a:p>
        </p:txBody>
      </p:sp>
      <p:pic>
        <p:nvPicPr>
          <p:cNvPr id="7" name="Picture 6" descr="A drawing of a pencil&#10;&#10;AI-generated content may be incorrect.">
            <a:extLst>
              <a:ext uri="{FF2B5EF4-FFF2-40B4-BE49-F238E27FC236}">
                <a16:creationId xmlns:a16="http://schemas.microsoft.com/office/drawing/2014/main" id="{7113E900-F5E4-C558-75C3-5A28D79523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64" y="6336074"/>
            <a:ext cx="444192" cy="521926"/>
          </a:xfrm>
          <a:prstGeom prst="rect">
            <a:avLst/>
          </a:prstGeom>
        </p:spPr>
      </p:pic>
      <p:pic>
        <p:nvPicPr>
          <p:cNvPr id="9" name="Picture 8" descr="An orange book with a rectangular window&#10;&#10;AI-generated content may be incorrect.">
            <a:extLst>
              <a:ext uri="{FF2B5EF4-FFF2-40B4-BE49-F238E27FC236}">
                <a16:creationId xmlns:a16="http://schemas.microsoft.com/office/drawing/2014/main" id="{139D42C4-0152-64D7-242F-C355B01228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0151" y="6141215"/>
            <a:ext cx="661849" cy="716785"/>
          </a:xfrm>
          <a:prstGeom prst="rect">
            <a:avLst/>
          </a:prstGeom>
        </p:spPr>
      </p:pic>
      <p:pic>
        <p:nvPicPr>
          <p:cNvPr id="11" name="Picture 10" descr="A yellow object with a black background&#10;&#10;AI-generated content may be incorrect.">
            <a:extLst>
              <a:ext uri="{FF2B5EF4-FFF2-40B4-BE49-F238E27FC236}">
                <a16:creationId xmlns:a16="http://schemas.microsoft.com/office/drawing/2014/main" id="{775A6677-D925-DCE7-0894-AD3567B44A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0" y="18871"/>
            <a:ext cx="251667" cy="656198"/>
          </a:xfrm>
          <a:prstGeom prst="rect">
            <a:avLst/>
          </a:prstGeom>
        </p:spPr>
      </p:pic>
      <p:pic>
        <p:nvPicPr>
          <p:cNvPr id="15" name="Picture 14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00B297BB-94C1-61E6-7739-BB07388B69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30151" y="85225"/>
            <a:ext cx="523490" cy="523490"/>
          </a:xfrm>
          <a:prstGeom prst="rect">
            <a:avLst/>
          </a:prstGeom>
        </p:spPr>
      </p:pic>
      <p:pic>
        <p:nvPicPr>
          <p:cNvPr id="16" name="Picture 15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4B080C15-6EA7-EA30-8C1E-08D2F2AD93FC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8510" y="2530567"/>
            <a:ext cx="523490" cy="523490"/>
          </a:xfrm>
          <a:prstGeom prst="rect">
            <a:avLst/>
          </a:prstGeom>
        </p:spPr>
      </p:pic>
      <p:pic>
        <p:nvPicPr>
          <p:cNvPr id="17" name="Picture 16" descr="A drawing of a pencil&#10;&#10;AI-generated content may be incorrect.">
            <a:extLst>
              <a:ext uri="{FF2B5EF4-FFF2-40B4-BE49-F238E27FC236}">
                <a16:creationId xmlns:a16="http://schemas.microsoft.com/office/drawing/2014/main" id="{5EFBA21F-3C3B-256D-594A-9E55157DFC1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350" y="3924446"/>
            <a:ext cx="444192" cy="521926"/>
          </a:xfrm>
          <a:prstGeom prst="rect">
            <a:avLst/>
          </a:prstGeom>
        </p:spPr>
      </p:pic>
      <p:pic>
        <p:nvPicPr>
          <p:cNvPr id="20" name="Picture 19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A0139793-2D93-2DBA-7772-1104FEA0FA4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344" y="-163741"/>
            <a:ext cx="1165123" cy="116512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9EB5E6B-BBF2-A9CB-77E8-AB7D98D6B7D4}"/>
              </a:ext>
            </a:extLst>
          </p:cNvPr>
          <p:cNvSpPr txBox="1">
            <a:spLocks/>
          </p:cNvSpPr>
          <p:nvPr/>
        </p:nvSpPr>
        <p:spPr>
          <a:xfrm>
            <a:off x="435628" y="3758888"/>
            <a:ext cx="11363082" cy="2936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AU" sz="5400" dirty="0"/>
            </a:br>
            <a:endParaRPr lang="ar-EG" sz="5400" dirty="0"/>
          </a:p>
          <a:p>
            <a:endParaRPr lang="en-GB" sz="54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2071C99-93D9-37E7-FCF8-A57FD4957BDA}"/>
              </a:ext>
            </a:extLst>
          </p:cNvPr>
          <p:cNvSpPr txBox="1">
            <a:spLocks/>
          </p:cNvSpPr>
          <p:nvPr/>
        </p:nvSpPr>
        <p:spPr>
          <a:xfrm>
            <a:off x="1130710" y="2168647"/>
            <a:ext cx="4001728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5400" dirty="0"/>
              <a:t>I</a:t>
            </a:r>
          </a:p>
          <a:p>
            <a:pPr algn="l"/>
            <a:r>
              <a:rPr lang="en-AU" sz="5400" dirty="0"/>
              <a:t>My Name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1824CFB-F557-A2F3-2E6E-B94DBF8A581D}"/>
              </a:ext>
            </a:extLst>
          </p:cNvPr>
          <p:cNvSpPr txBox="1">
            <a:spLocks/>
          </p:cNvSpPr>
          <p:nvPr/>
        </p:nvSpPr>
        <p:spPr>
          <a:xfrm>
            <a:off x="1341881" y="35406"/>
            <a:ext cx="9144000" cy="226521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dirty="0">
                <a:latin typeface="Calibri" panose="020F0502020204030204" pitchFamily="34" charset="0"/>
                <a:cs typeface="Calibri" panose="020F0502020204030204" pitchFamily="34" charset="0"/>
              </a:rPr>
              <a:t>ما </a:t>
            </a:r>
            <a:r>
              <a:rPr lang="ar-EG" dirty="0" err="1">
                <a:latin typeface="Calibri" panose="020F0502020204030204" pitchFamily="34" charset="0"/>
                <a:cs typeface="Calibri" panose="020F0502020204030204" pitchFamily="34" charset="0"/>
              </a:rPr>
              <a:t>إسْمُكَ</a:t>
            </a:r>
            <a:endParaRPr lang="ar-E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429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84B7609-1612-AF13-B3D8-05148BCE32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45" t="10131" r="6609" b="9247"/>
          <a:stretch/>
        </p:blipFill>
        <p:spPr>
          <a:xfrm>
            <a:off x="-81114" y="-1"/>
            <a:ext cx="12312000" cy="6912000"/>
          </a:xfrm>
          <a:prstGeom prst="rect">
            <a:avLst/>
          </a:prstGeom>
        </p:spPr>
      </p:pic>
      <p:pic>
        <p:nvPicPr>
          <p:cNvPr id="19" name="Picture 18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2EE5C668-9945-89F1-0A9C-BDDE7CC549C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07" y="856355"/>
            <a:ext cx="1165123" cy="11651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891048-7ECA-B88B-C755-DC3DEBCBD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5225"/>
            <a:ext cx="9144000" cy="2265213"/>
          </a:xfrm>
        </p:spPr>
        <p:txBody>
          <a:bodyPr anchor="ctr" anchorCtr="0"/>
          <a:lstStyle/>
          <a:p>
            <a:r>
              <a:rPr lang="ar-SA" dirty="0">
                <a:latin typeface="Calibri" panose="020F0502020204030204" pitchFamily="34" charset="0"/>
                <a:cs typeface="Calibri" panose="020F0502020204030204" pitchFamily="34" charset="0"/>
              </a:rPr>
              <a:t>كَيْفَ حالُكَ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6CBED-FFCC-5F4E-0188-999E58F1F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64706"/>
            <a:ext cx="9144000" cy="1655762"/>
          </a:xfrm>
        </p:spPr>
        <p:txBody>
          <a:bodyPr>
            <a:normAutofit/>
          </a:bodyPr>
          <a:lstStyle/>
          <a:p>
            <a:r>
              <a:rPr lang="ar-SA" sz="4400" dirty="0">
                <a:latin typeface="Calibri" panose="020F0502020204030204" pitchFamily="34" charset="0"/>
                <a:cs typeface="Calibri" panose="020F0502020204030204" pitchFamily="34" charset="0"/>
              </a:rPr>
              <a:t>أنا بِخَيْرٍ</a:t>
            </a:r>
            <a:r>
              <a:rPr lang="ar-EG" sz="4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ar-SA" sz="4400" dirty="0">
                <a:latin typeface="Calibri" panose="020F0502020204030204" pitchFamily="34" charset="0"/>
                <a:cs typeface="Calibri" panose="020F0502020204030204" pitchFamily="34" charset="0"/>
              </a:rPr>
              <a:t>الحمدُ لله</a:t>
            </a:r>
          </a:p>
          <a:p>
            <a:endParaRPr lang="en-AU" sz="54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16376B-AB01-90A1-5B3A-281A5A74F26F}"/>
              </a:ext>
            </a:extLst>
          </p:cNvPr>
          <p:cNvSpPr txBox="1">
            <a:spLocks/>
          </p:cNvSpPr>
          <p:nvPr/>
        </p:nvSpPr>
        <p:spPr>
          <a:xfrm>
            <a:off x="1524000" y="450756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5400" dirty="0"/>
          </a:p>
        </p:txBody>
      </p:sp>
      <p:pic>
        <p:nvPicPr>
          <p:cNvPr id="7" name="Picture 6" descr="A drawing of a pencil&#10;&#10;AI-generated content may be incorrect.">
            <a:extLst>
              <a:ext uri="{FF2B5EF4-FFF2-40B4-BE49-F238E27FC236}">
                <a16:creationId xmlns:a16="http://schemas.microsoft.com/office/drawing/2014/main" id="{7113E900-F5E4-C558-75C3-5A28D79523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64" y="6336074"/>
            <a:ext cx="444192" cy="521926"/>
          </a:xfrm>
          <a:prstGeom prst="rect">
            <a:avLst/>
          </a:prstGeom>
        </p:spPr>
      </p:pic>
      <p:pic>
        <p:nvPicPr>
          <p:cNvPr id="9" name="Picture 8" descr="An orange book with a rectangular window&#10;&#10;AI-generated content may be incorrect.">
            <a:extLst>
              <a:ext uri="{FF2B5EF4-FFF2-40B4-BE49-F238E27FC236}">
                <a16:creationId xmlns:a16="http://schemas.microsoft.com/office/drawing/2014/main" id="{139D42C4-0152-64D7-242F-C355B01228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0151" y="6141215"/>
            <a:ext cx="661849" cy="716785"/>
          </a:xfrm>
          <a:prstGeom prst="rect">
            <a:avLst/>
          </a:prstGeom>
        </p:spPr>
      </p:pic>
      <p:pic>
        <p:nvPicPr>
          <p:cNvPr id="11" name="Picture 10" descr="A yellow object with a black background&#10;&#10;AI-generated content may be incorrect.">
            <a:extLst>
              <a:ext uri="{FF2B5EF4-FFF2-40B4-BE49-F238E27FC236}">
                <a16:creationId xmlns:a16="http://schemas.microsoft.com/office/drawing/2014/main" id="{775A6677-D925-DCE7-0894-AD3567B44A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0" y="18871"/>
            <a:ext cx="251667" cy="656198"/>
          </a:xfrm>
          <a:prstGeom prst="rect">
            <a:avLst/>
          </a:prstGeom>
        </p:spPr>
      </p:pic>
      <p:pic>
        <p:nvPicPr>
          <p:cNvPr id="15" name="Picture 14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00B297BB-94C1-61E6-7739-BB07388B69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30151" y="85225"/>
            <a:ext cx="523490" cy="523490"/>
          </a:xfrm>
          <a:prstGeom prst="rect">
            <a:avLst/>
          </a:prstGeom>
        </p:spPr>
      </p:pic>
      <p:pic>
        <p:nvPicPr>
          <p:cNvPr id="16" name="Picture 15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4B080C15-6EA7-EA30-8C1E-08D2F2AD93FC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8510" y="2530567"/>
            <a:ext cx="523490" cy="523490"/>
          </a:xfrm>
          <a:prstGeom prst="rect">
            <a:avLst/>
          </a:prstGeom>
        </p:spPr>
      </p:pic>
      <p:pic>
        <p:nvPicPr>
          <p:cNvPr id="17" name="Picture 16" descr="A drawing of a pencil&#10;&#10;AI-generated content may be incorrect.">
            <a:extLst>
              <a:ext uri="{FF2B5EF4-FFF2-40B4-BE49-F238E27FC236}">
                <a16:creationId xmlns:a16="http://schemas.microsoft.com/office/drawing/2014/main" id="{5EFBA21F-3C3B-256D-594A-9E55157DFC1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350" y="3924446"/>
            <a:ext cx="444192" cy="521926"/>
          </a:xfrm>
          <a:prstGeom prst="rect">
            <a:avLst/>
          </a:prstGeom>
        </p:spPr>
      </p:pic>
      <p:pic>
        <p:nvPicPr>
          <p:cNvPr id="20" name="Picture 19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A0139793-2D93-2DBA-7772-1104FEA0FA4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344" y="-163741"/>
            <a:ext cx="1165123" cy="116512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9EB5E6B-BBF2-A9CB-77E8-AB7D98D6B7D4}"/>
              </a:ext>
            </a:extLst>
          </p:cNvPr>
          <p:cNvSpPr txBox="1">
            <a:spLocks/>
          </p:cNvSpPr>
          <p:nvPr/>
        </p:nvSpPr>
        <p:spPr>
          <a:xfrm>
            <a:off x="435628" y="3758888"/>
            <a:ext cx="11363082" cy="2936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AU" sz="5400" dirty="0"/>
            </a:br>
            <a:endParaRPr lang="ar-EG" sz="5400" dirty="0"/>
          </a:p>
          <a:p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417641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84B7609-1612-AF13-B3D8-05148BCE32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45" t="10131" r="6609" b="9247"/>
          <a:stretch/>
        </p:blipFill>
        <p:spPr>
          <a:xfrm>
            <a:off x="-81114" y="-1"/>
            <a:ext cx="12312000" cy="6912000"/>
          </a:xfrm>
          <a:prstGeom prst="rect">
            <a:avLst/>
          </a:prstGeom>
        </p:spPr>
      </p:pic>
      <p:pic>
        <p:nvPicPr>
          <p:cNvPr id="19" name="Picture 18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2EE5C668-9945-89F1-0A9C-BDDE7CC549C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07" y="856355"/>
            <a:ext cx="1165123" cy="11651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891048-7ECA-B88B-C755-DC3DEBCBD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5225"/>
            <a:ext cx="9144000" cy="2265213"/>
          </a:xfrm>
        </p:spPr>
        <p:txBody>
          <a:bodyPr anchor="ctr" anchorCtr="0"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6CBED-FFCC-5F4E-0188-999E58F1F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64706"/>
            <a:ext cx="9144000" cy="1655762"/>
          </a:xfrm>
        </p:spPr>
        <p:txBody>
          <a:bodyPr>
            <a:normAutofit/>
          </a:bodyPr>
          <a:lstStyle/>
          <a:p>
            <a:endParaRPr lang="en-AU" sz="54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16376B-AB01-90A1-5B3A-281A5A74F26F}"/>
              </a:ext>
            </a:extLst>
          </p:cNvPr>
          <p:cNvSpPr txBox="1">
            <a:spLocks/>
          </p:cNvSpPr>
          <p:nvPr/>
        </p:nvSpPr>
        <p:spPr>
          <a:xfrm>
            <a:off x="1524000" y="450756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5400" dirty="0"/>
          </a:p>
        </p:txBody>
      </p:sp>
      <p:pic>
        <p:nvPicPr>
          <p:cNvPr id="7" name="Picture 6" descr="A drawing of a pencil&#10;&#10;AI-generated content may be incorrect.">
            <a:extLst>
              <a:ext uri="{FF2B5EF4-FFF2-40B4-BE49-F238E27FC236}">
                <a16:creationId xmlns:a16="http://schemas.microsoft.com/office/drawing/2014/main" id="{7113E900-F5E4-C558-75C3-5A28D79523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64" y="6336074"/>
            <a:ext cx="444192" cy="521926"/>
          </a:xfrm>
          <a:prstGeom prst="rect">
            <a:avLst/>
          </a:prstGeom>
        </p:spPr>
      </p:pic>
      <p:pic>
        <p:nvPicPr>
          <p:cNvPr id="9" name="Picture 8" descr="An orange book with a rectangular window&#10;&#10;AI-generated content may be incorrect.">
            <a:extLst>
              <a:ext uri="{FF2B5EF4-FFF2-40B4-BE49-F238E27FC236}">
                <a16:creationId xmlns:a16="http://schemas.microsoft.com/office/drawing/2014/main" id="{139D42C4-0152-64D7-242F-C355B01228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0151" y="6141215"/>
            <a:ext cx="661849" cy="716785"/>
          </a:xfrm>
          <a:prstGeom prst="rect">
            <a:avLst/>
          </a:prstGeom>
        </p:spPr>
      </p:pic>
      <p:pic>
        <p:nvPicPr>
          <p:cNvPr id="11" name="Picture 10" descr="A yellow object with a black background&#10;&#10;AI-generated content may be incorrect.">
            <a:extLst>
              <a:ext uri="{FF2B5EF4-FFF2-40B4-BE49-F238E27FC236}">
                <a16:creationId xmlns:a16="http://schemas.microsoft.com/office/drawing/2014/main" id="{775A6677-D925-DCE7-0894-AD3567B44A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0" y="18871"/>
            <a:ext cx="251667" cy="656198"/>
          </a:xfrm>
          <a:prstGeom prst="rect">
            <a:avLst/>
          </a:prstGeom>
        </p:spPr>
      </p:pic>
      <p:pic>
        <p:nvPicPr>
          <p:cNvPr id="15" name="Picture 14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00B297BB-94C1-61E6-7739-BB07388B69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30151" y="85225"/>
            <a:ext cx="523490" cy="523490"/>
          </a:xfrm>
          <a:prstGeom prst="rect">
            <a:avLst/>
          </a:prstGeom>
        </p:spPr>
      </p:pic>
      <p:pic>
        <p:nvPicPr>
          <p:cNvPr id="16" name="Picture 15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4B080C15-6EA7-EA30-8C1E-08D2F2AD93FC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8510" y="2530567"/>
            <a:ext cx="523490" cy="523490"/>
          </a:xfrm>
          <a:prstGeom prst="rect">
            <a:avLst/>
          </a:prstGeom>
        </p:spPr>
      </p:pic>
      <p:pic>
        <p:nvPicPr>
          <p:cNvPr id="17" name="Picture 16" descr="A drawing of a pencil&#10;&#10;AI-generated content may be incorrect.">
            <a:extLst>
              <a:ext uri="{FF2B5EF4-FFF2-40B4-BE49-F238E27FC236}">
                <a16:creationId xmlns:a16="http://schemas.microsoft.com/office/drawing/2014/main" id="{5EFBA21F-3C3B-256D-594A-9E55157DFC1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350" y="3924446"/>
            <a:ext cx="444192" cy="521926"/>
          </a:xfrm>
          <a:prstGeom prst="rect">
            <a:avLst/>
          </a:prstGeom>
        </p:spPr>
      </p:pic>
      <p:pic>
        <p:nvPicPr>
          <p:cNvPr id="20" name="Picture 19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A0139793-2D93-2DBA-7772-1104FEA0FA4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344" y="-163741"/>
            <a:ext cx="1165123" cy="116512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9EB5E6B-BBF2-A9CB-77E8-AB7D98D6B7D4}"/>
              </a:ext>
            </a:extLst>
          </p:cNvPr>
          <p:cNvSpPr txBox="1">
            <a:spLocks/>
          </p:cNvSpPr>
          <p:nvPr/>
        </p:nvSpPr>
        <p:spPr>
          <a:xfrm>
            <a:off x="435628" y="3758888"/>
            <a:ext cx="11363082" cy="2936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AU" sz="5400" dirty="0"/>
            </a:br>
            <a:endParaRPr lang="ar-EG" sz="5400" dirty="0"/>
          </a:p>
          <a:p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707912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84B7609-1612-AF13-B3D8-05148BCE32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45" t="10131" r="6609" b="9247"/>
          <a:stretch/>
        </p:blipFill>
        <p:spPr>
          <a:xfrm>
            <a:off x="-81114" y="-1"/>
            <a:ext cx="12312000" cy="6912000"/>
          </a:xfrm>
          <a:prstGeom prst="rect">
            <a:avLst/>
          </a:prstGeom>
        </p:spPr>
      </p:pic>
      <p:pic>
        <p:nvPicPr>
          <p:cNvPr id="19" name="Picture 18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2EE5C668-9945-89F1-0A9C-BDDE7CC549C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07" y="856355"/>
            <a:ext cx="1165123" cy="11651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891048-7ECA-B88B-C755-DC3DEBCBD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168" y="-131225"/>
            <a:ext cx="9144000" cy="2265213"/>
          </a:xfrm>
        </p:spPr>
        <p:txBody>
          <a:bodyPr anchor="ctr" anchorCtr="0">
            <a:normAutofit/>
          </a:bodyPr>
          <a:lstStyle/>
          <a:p>
            <a:r>
              <a:rPr lang="ar-SA" sz="8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السَّلَامُ عَلَيْكُمْ</a:t>
            </a:r>
            <a:endParaRPr lang="en-GB" sz="8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6CBED-FFCC-5F4E-0188-999E58F1F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168" y="2609339"/>
            <a:ext cx="9144000" cy="1655762"/>
          </a:xfrm>
        </p:spPr>
        <p:txBody>
          <a:bodyPr>
            <a:noAutofit/>
          </a:bodyPr>
          <a:lstStyle/>
          <a:p>
            <a:r>
              <a:rPr lang="en-AU" sz="4400" dirty="0">
                <a:solidFill>
                  <a:srgbClr val="7030A0"/>
                </a:solidFill>
              </a:rPr>
              <a:t>What does it mean?</a:t>
            </a:r>
            <a:endParaRPr lang="ar-EG" sz="4400" dirty="0">
              <a:solidFill>
                <a:srgbClr val="7030A0"/>
              </a:solidFill>
            </a:endParaRPr>
          </a:p>
          <a:p>
            <a:r>
              <a:rPr lang="en-GB" sz="5400" dirty="0">
                <a:solidFill>
                  <a:srgbClr val="0070C0"/>
                </a:solidFill>
              </a:rPr>
              <a:t>Peace be upon you.</a:t>
            </a:r>
            <a:endParaRPr lang="en-AU" sz="5400" dirty="0">
              <a:solidFill>
                <a:srgbClr val="0070C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16376B-AB01-90A1-5B3A-281A5A74F26F}"/>
              </a:ext>
            </a:extLst>
          </p:cNvPr>
          <p:cNvSpPr txBox="1">
            <a:spLocks/>
          </p:cNvSpPr>
          <p:nvPr/>
        </p:nvSpPr>
        <p:spPr>
          <a:xfrm>
            <a:off x="1524000" y="450756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5400" dirty="0"/>
          </a:p>
        </p:txBody>
      </p:sp>
      <p:pic>
        <p:nvPicPr>
          <p:cNvPr id="7" name="Picture 6" descr="A drawing of a pencil&#10;&#10;AI-generated content may be incorrect.">
            <a:extLst>
              <a:ext uri="{FF2B5EF4-FFF2-40B4-BE49-F238E27FC236}">
                <a16:creationId xmlns:a16="http://schemas.microsoft.com/office/drawing/2014/main" id="{7113E900-F5E4-C558-75C3-5A28D79523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64" y="6336074"/>
            <a:ext cx="444192" cy="521926"/>
          </a:xfrm>
          <a:prstGeom prst="rect">
            <a:avLst/>
          </a:prstGeom>
        </p:spPr>
      </p:pic>
      <p:pic>
        <p:nvPicPr>
          <p:cNvPr id="9" name="Picture 8" descr="An orange book with a rectangular window&#10;&#10;AI-generated content may be incorrect.">
            <a:extLst>
              <a:ext uri="{FF2B5EF4-FFF2-40B4-BE49-F238E27FC236}">
                <a16:creationId xmlns:a16="http://schemas.microsoft.com/office/drawing/2014/main" id="{139D42C4-0152-64D7-242F-C355B01228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0151" y="6141215"/>
            <a:ext cx="661849" cy="716785"/>
          </a:xfrm>
          <a:prstGeom prst="rect">
            <a:avLst/>
          </a:prstGeom>
        </p:spPr>
      </p:pic>
      <p:pic>
        <p:nvPicPr>
          <p:cNvPr id="11" name="Picture 10" descr="A yellow object with a black background&#10;&#10;AI-generated content may be incorrect.">
            <a:extLst>
              <a:ext uri="{FF2B5EF4-FFF2-40B4-BE49-F238E27FC236}">
                <a16:creationId xmlns:a16="http://schemas.microsoft.com/office/drawing/2014/main" id="{775A6677-D925-DCE7-0894-AD3567B44A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0" y="18871"/>
            <a:ext cx="251667" cy="656198"/>
          </a:xfrm>
          <a:prstGeom prst="rect">
            <a:avLst/>
          </a:prstGeom>
        </p:spPr>
      </p:pic>
      <p:pic>
        <p:nvPicPr>
          <p:cNvPr id="15" name="Picture 14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00B297BB-94C1-61E6-7739-BB07388B69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30151" y="85225"/>
            <a:ext cx="523490" cy="523490"/>
          </a:xfrm>
          <a:prstGeom prst="rect">
            <a:avLst/>
          </a:prstGeom>
        </p:spPr>
      </p:pic>
      <p:pic>
        <p:nvPicPr>
          <p:cNvPr id="16" name="Picture 15" descr="A yellow star on a black background&#10;&#10;AI-generated content may be incorrect.">
            <a:extLst>
              <a:ext uri="{FF2B5EF4-FFF2-40B4-BE49-F238E27FC236}">
                <a16:creationId xmlns:a16="http://schemas.microsoft.com/office/drawing/2014/main" id="{4B080C15-6EA7-EA30-8C1E-08D2F2AD93FC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8510" y="2530567"/>
            <a:ext cx="523490" cy="523490"/>
          </a:xfrm>
          <a:prstGeom prst="rect">
            <a:avLst/>
          </a:prstGeom>
        </p:spPr>
      </p:pic>
      <p:pic>
        <p:nvPicPr>
          <p:cNvPr id="17" name="Picture 16" descr="A drawing of a pencil&#10;&#10;AI-generated content may be incorrect.">
            <a:extLst>
              <a:ext uri="{FF2B5EF4-FFF2-40B4-BE49-F238E27FC236}">
                <a16:creationId xmlns:a16="http://schemas.microsoft.com/office/drawing/2014/main" id="{5EFBA21F-3C3B-256D-594A-9E55157DFC1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350" y="3924446"/>
            <a:ext cx="444192" cy="521926"/>
          </a:xfrm>
          <a:prstGeom prst="rect">
            <a:avLst/>
          </a:prstGeom>
        </p:spPr>
      </p:pic>
      <p:pic>
        <p:nvPicPr>
          <p:cNvPr id="20" name="Picture 19" descr="A blue cloud on a black background&#10;&#10;AI-generated content may be incorrect.">
            <a:extLst>
              <a:ext uri="{FF2B5EF4-FFF2-40B4-BE49-F238E27FC236}">
                <a16:creationId xmlns:a16="http://schemas.microsoft.com/office/drawing/2014/main" id="{A0139793-2D93-2DBA-7772-1104FEA0FA4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344" y="-163741"/>
            <a:ext cx="1165123" cy="116512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9EB5E6B-BBF2-A9CB-77E8-AB7D98D6B7D4}"/>
              </a:ext>
            </a:extLst>
          </p:cNvPr>
          <p:cNvSpPr txBox="1">
            <a:spLocks/>
          </p:cNvSpPr>
          <p:nvPr/>
        </p:nvSpPr>
        <p:spPr>
          <a:xfrm>
            <a:off x="332627" y="4740452"/>
            <a:ext cx="11363082" cy="187356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5400" dirty="0">
                <a:solidFill>
                  <a:srgbClr val="7030A0"/>
                </a:solidFill>
              </a:rPr>
              <a:t>When do we </a:t>
            </a:r>
            <a:r>
              <a:rPr lang="en-AU" sz="4800" dirty="0">
                <a:solidFill>
                  <a:srgbClr val="7030A0"/>
                </a:solidFill>
              </a:rPr>
              <a:t>use</a:t>
            </a:r>
            <a:r>
              <a:rPr lang="en-AU" sz="5400" dirty="0">
                <a:solidFill>
                  <a:srgbClr val="7030A0"/>
                </a:solidFill>
              </a:rPr>
              <a:t> it?</a:t>
            </a:r>
            <a:endParaRPr lang="ar-EG" sz="5400" dirty="0">
              <a:solidFill>
                <a:srgbClr val="7030A0"/>
              </a:solidFill>
            </a:endParaRPr>
          </a:p>
          <a:p>
            <a:r>
              <a:rPr lang="en-AU" sz="5800" dirty="0">
                <a:solidFill>
                  <a:srgbClr val="0070C0"/>
                </a:solidFill>
              </a:rPr>
              <a:t>It is the Islamic way of greeting.</a:t>
            </a:r>
            <a:br>
              <a:rPr lang="en-AU" sz="5400" dirty="0"/>
            </a:br>
            <a:endParaRPr lang="ar-EG" sz="5400" dirty="0"/>
          </a:p>
          <a:p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8945028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297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بِسْمِ ٱللَّهِ ٱلرَّحْمَٰنِ ٱلرَّحِيمِ</vt:lpstr>
      <vt:lpstr>السَّلَامُ عَلَيْكُمْ</vt:lpstr>
      <vt:lpstr>ما إسْمُك؟</vt:lpstr>
      <vt:lpstr>كَيْفَ حالُك؟</vt:lpstr>
      <vt:lpstr>كَيْفَ حالُك؟</vt:lpstr>
      <vt:lpstr>أنا إسْمي</vt:lpstr>
      <vt:lpstr>كَيْفَ حالُكَ</vt:lpstr>
      <vt:lpstr>PowerPoint Presentation</vt:lpstr>
      <vt:lpstr>السَّلَامُ عَلَيْكُمْ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Hassan</dc:creator>
  <cp:lastModifiedBy>Matt Hassan</cp:lastModifiedBy>
  <cp:revision>6</cp:revision>
  <dcterms:created xsi:type="dcterms:W3CDTF">2025-08-19T20:24:36Z</dcterms:created>
  <dcterms:modified xsi:type="dcterms:W3CDTF">2025-08-23T23:50:28Z</dcterms:modified>
</cp:coreProperties>
</file>